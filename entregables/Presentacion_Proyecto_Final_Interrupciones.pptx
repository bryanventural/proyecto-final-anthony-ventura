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5d591508cb4577" /><Relationship Type="http://schemas.openxmlformats.org/officeDocument/2006/relationships/extended-properties" Target="/docProps/app.xml" Id="R05754d93c08240c3" /><Relationship Type="http://schemas.openxmlformats.org/officeDocument/2006/relationships/officeDocument" Target="/ppt/presentation.xml" Id="R0d19f133303a463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2259720dea4054"/>
  </p:sldMasterIdLst>
  <p:notesMasterIdLst>
    <p:notesMasterId xmlns:r="http://schemas.openxmlformats.org/officeDocument/2006/relationships" r:id="Rccab0133971a4d11"/>
  </p:notesMasterIdLst>
  <p:sldIdLst>
    <p:sldId xmlns:r="http://schemas.openxmlformats.org/officeDocument/2006/relationships" id="256" r:id="R3ce858ac15c44d5d"/>
    <p:sldId xmlns:r="http://schemas.openxmlformats.org/officeDocument/2006/relationships" id="257" r:id="R48a377f30c3e44cd"/>
    <p:sldId xmlns:r="http://schemas.openxmlformats.org/officeDocument/2006/relationships" id="258" r:id="R93df81d6f0364260"/>
    <p:sldId xmlns:r="http://schemas.openxmlformats.org/officeDocument/2006/relationships" id="259" r:id="R5dd0d530e7f34bbc"/>
    <p:sldId xmlns:r="http://schemas.openxmlformats.org/officeDocument/2006/relationships" id="260" r:id="Rd3934bf71e7e4e15"/>
    <p:sldId xmlns:r="http://schemas.openxmlformats.org/officeDocument/2006/relationships" id="261" r:id="R1ec820151df1483d"/>
    <p:sldId xmlns:r="http://schemas.openxmlformats.org/officeDocument/2006/relationships" id="262" r:id="R8e1d37f54abd48fa"/>
    <p:sldId xmlns:r="http://schemas.openxmlformats.org/officeDocument/2006/relationships" id="263" r:id="R8a49c0548e9d4861"/>
    <p:sldId xmlns:r="http://schemas.openxmlformats.org/officeDocument/2006/relationships" id="264" r:id="R87809076bda44029"/>
    <p:sldId xmlns:r="http://schemas.openxmlformats.org/officeDocument/2006/relationships" id="265" r:id="Rfb330e47abd24b6e"/>
    <p:sldId xmlns:r="http://schemas.openxmlformats.org/officeDocument/2006/relationships" id="266" r:id="Rf18d485d0c274b48"/>
    <p:sldId xmlns:r="http://schemas.openxmlformats.org/officeDocument/2006/relationships" id="267" r:id="Rff046d274aae495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01677f5f724c53" /><Relationship Type="http://schemas.openxmlformats.org/officeDocument/2006/relationships/slideMaster" Target="/ppt/slideMasters/slideMaster1.xml" Id="R9c2259720dea4054" /><Relationship Type="http://schemas.openxmlformats.org/officeDocument/2006/relationships/notesMaster" Target="/ppt/notesMasters/notesMaster1.xml" Id="Rccab0133971a4d11" /><Relationship Type="http://schemas.openxmlformats.org/officeDocument/2006/relationships/presProps" Target="/ppt/presProps.xml" Id="R3dc5e6fcf51142f1" /><Relationship Type="http://schemas.openxmlformats.org/officeDocument/2006/relationships/tableStyles" Target="/ppt/tableStyles.xml" Id="R642c7afa8e3a4a3b" /><Relationship Type="http://schemas.openxmlformats.org/officeDocument/2006/relationships/slide" Target="/ppt/slides/slide1.xml" Id="R3ce858ac15c44d5d" /><Relationship Type="http://schemas.openxmlformats.org/officeDocument/2006/relationships/slide" Target="/ppt/slides/slide2.xml" Id="R48a377f30c3e44cd" /><Relationship Type="http://schemas.openxmlformats.org/officeDocument/2006/relationships/slide" Target="/ppt/slides/slide3.xml" Id="R93df81d6f0364260" /><Relationship Type="http://schemas.openxmlformats.org/officeDocument/2006/relationships/slide" Target="/ppt/slides/slide4.xml" Id="R5dd0d530e7f34bbc" /><Relationship Type="http://schemas.openxmlformats.org/officeDocument/2006/relationships/slide" Target="/ppt/slides/slide5.xml" Id="Rd3934bf71e7e4e15" /><Relationship Type="http://schemas.openxmlformats.org/officeDocument/2006/relationships/slide" Target="/ppt/slides/slide6.xml" Id="R1ec820151df1483d" /><Relationship Type="http://schemas.openxmlformats.org/officeDocument/2006/relationships/slide" Target="/ppt/slides/slide7.xml" Id="R8e1d37f54abd48fa" /><Relationship Type="http://schemas.openxmlformats.org/officeDocument/2006/relationships/slide" Target="/ppt/slides/slide8.xml" Id="R8a49c0548e9d4861" /><Relationship Type="http://schemas.openxmlformats.org/officeDocument/2006/relationships/slide" Target="/ppt/slides/slide9.xml" Id="R87809076bda44029" /><Relationship Type="http://schemas.openxmlformats.org/officeDocument/2006/relationships/slide" Target="/ppt/slides/slide10.xml" Id="Rfb330e47abd24b6e" /><Relationship Type="http://schemas.openxmlformats.org/officeDocument/2006/relationships/slide" Target="/ppt/slides/slide11.xml" Id="Rf18d485d0c274b48" /><Relationship Type="http://schemas.openxmlformats.org/officeDocument/2006/relationships/slide" Target="/ppt/slides/slide12.xml" Id="Rff046d274aae49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392727da1044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cc77b604bd4fb5" /><Relationship Type="http://schemas.openxmlformats.org/officeDocument/2006/relationships/notesMaster" Target="/ppt/notesMasters/notesMaster1.xml" Id="R641f098c22a64bc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1810fa56b46456c" /><Relationship Type="http://schemas.openxmlformats.org/officeDocument/2006/relationships/notesMaster" Target="/ppt/notesMasters/notesMaster1.xml" Id="Re54d37349438424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e616304f9ec4783" /><Relationship Type="http://schemas.openxmlformats.org/officeDocument/2006/relationships/notesMaster" Target="/ppt/notesMasters/notesMaster1.xml" Id="Rdd820e41a2e0409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84f0414b6274505" /><Relationship Type="http://schemas.openxmlformats.org/officeDocument/2006/relationships/notesMaster" Target="/ppt/notesMasters/notesMaster1.xml" Id="Rc2b404a1d14f4a8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a4c1824f3194ec6" /><Relationship Type="http://schemas.openxmlformats.org/officeDocument/2006/relationships/notesMaster" Target="/ppt/notesMasters/notesMaster1.xml" Id="R28fbaf93c05a4d4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311a7e9d69f4b8d" /><Relationship Type="http://schemas.openxmlformats.org/officeDocument/2006/relationships/notesMaster" Target="/ppt/notesMasters/notesMaster1.xml" Id="R5ec0844515ac423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cf212a75fa441c0" /><Relationship Type="http://schemas.openxmlformats.org/officeDocument/2006/relationships/notesMaster" Target="/ppt/notesMasters/notesMaster1.xml" Id="R1de01baa8ad24b7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61bfea9ef124a8f" /><Relationship Type="http://schemas.openxmlformats.org/officeDocument/2006/relationships/notesMaster" Target="/ppt/notesMasters/notesMaster1.xml" Id="R4c156b5a7f16444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a594bdf974d4218" /><Relationship Type="http://schemas.openxmlformats.org/officeDocument/2006/relationships/notesMaster" Target="/ppt/notesMasters/notesMaster1.xml" Id="R74180a9735ea4c3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ee6fc86a6034c9d" /><Relationship Type="http://schemas.openxmlformats.org/officeDocument/2006/relationships/notesMaster" Target="/ppt/notesMasters/notesMaster1.xml" Id="Rf503ab31aa4a4c4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bd0b50325ef402a" /><Relationship Type="http://schemas.openxmlformats.org/officeDocument/2006/relationships/notesMaster" Target="/ppt/notesMasters/notesMaster1.xml" Id="R943960a7481442e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16986822242462e" /><Relationship Type="http://schemas.openxmlformats.org/officeDocument/2006/relationships/notesMaster" Target="/ppt/notesMasters/notesMaster1.xml" Id="R0bc70dfddadb48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6a6fb0f67a415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6e2197051b4d3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3627a5b64e405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e892203619452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117bcbda0a406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645c5fcca7408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2B17B49-A8FA-46F4-B441-67527D53BE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B732176-2BD8-47EE-B470-7B8974FDCAB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D3CDBD3-FBCC-4957-A24C-CC3F381E51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88D7104-E4CC-4C49-971F-62A4A530A9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845BFDE-03E1-4F58-AD95-E3CB0A0AFBA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6BC7B76-A25B-4B85-8223-4A58E03F9C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530AA0A-0D43-49B1-B8B8-F2D9143E60B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BB41098-978B-4A23-B942-D29524F88F2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45E853A-2EFB-4F2C-807C-2FDC113618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20E34E7-9585-47E2-919B-78A9CCE36A4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db686d789824f0a" /><Relationship Type="http://schemas.openxmlformats.org/officeDocument/2006/relationships/slideLayout" Target="/ppt/slideLayouts/slideLayout1.xml" Id="R336cf6db6dd048eb" /><Relationship Type="http://schemas.openxmlformats.org/officeDocument/2006/relationships/slideLayout" Target="/ppt/slideLayouts/slideLayout2.xml" Id="R3ba4d70e15884092" /><Relationship Type="http://schemas.openxmlformats.org/officeDocument/2006/relationships/slideLayout" Target="/ppt/slideLayouts/slideLayout3.xml" Id="R3d95ce50270e4722" /><Relationship Type="http://schemas.openxmlformats.org/officeDocument/2006/relationships/slideLayout" Target="/ppt/slideLayouts/slideLayout4.xml" Id="R7af82f0609a840b1" /><Relationship Type="http://schemas.openxmlformats.org/officeDocument/2006/relationships/slideLayout" Target="/ppt/slideLayouts/slideLayout5.xml" Id="R199e8533e00e4d10" /><Relationship Type="http://schemas.openxmlformats.org/officeDocument/2006/relationships/slideLayout" Target="/ppt/slideLayouts/slideLayout6.xml" Id="Rd5ba14245264412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6cf6db6dd048eb"/>
    <p:sldLayoutId xmlns:r="http://schemas.openxmlformats.org/officeDocument/2006/relationships" id="2147483650" r:id="R3ba4d70e15884092"/>
    <p:sldLayoutId xmlns:r="http://schemas.openxmlformats.org/officeDocument/2006/relationships" id="2147483651" r:id="R3d95ce50270e4722"/>
    <p:sldLayoutId xmlns:r="http://schemas.openxmlformats.org/officeDocument/2006/relationships" id="2147483652" r:id="R7af82f0609a840b1"/>
    <p:sldLayoutId xmlns:r="http://schemas.openxmlformats.org/officeDocument/2006/relationships" id="2147483653" r:id="R199e8533e00e4d10"/>
    <p:sldLayoutId xmlns:r="http://schemas.openxmlformats.org/officeDocument/2006/relationships" id="2147483654" r:id="Rd5ba14245264412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e17bfa8b134231" /><Relationship Type="http://schemas.openxmlformats.org/officeDocument/2006/relationships/notesSlide" Target="/ppt/notesSlides/notesSlide1.xml" Id="R1b6a1a4c99ce44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2ebce6fc3f4e80" /><Relationship Type="http://schemas.openxmlformats.org/officeDocument/2006/relationships/notesSlide" Target="/ppt/notesSlides/notesSlide2.xml" Id="R4ba85ea1a09b4e7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204ff7d1de4e01" /><Relationship Type="http://schemas.openxmlformats.org/officeDocument/2006/relationships/notesSlide" Target="/ppt/notesSlides/notesSlide3.xml" Id="R678f1f75ca484a1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54384b7bd24c4d" /><Relationship Type="http://schemas.openxmlformats.org/officeDocument/2006/relationships/notesSlide" Target="/ppt/notesSlides/notesSlide4.xml" Id="Rcc617c018508466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547aba7ac84f02" /><Relationship Type="http://schemas.openxmlformats.org/officeDocument/2006/relationships/notesSlide" Target="/ppt/notesSlides/notesSlide5.xml" Id="R6cdac8a82524410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a77ebb58944109" /><Relationship Type="http://schemas.openxmlformats.org/officeDocument/2006/relationships/image" Target="/ppt/media/image.png" Id="R6d25d46786fd476f" /><Relationship Type="http://schemas.openxmlformats.org/officeDocument/2006/relationships/notesSlide" Target="/ppt/notesSlides/notesSlide6.xml" Id="Rd1a445e9c1d0488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35fbdc1d3d4932" /><Relationship Type="http://schemas.openxmlformats.org/officeDocument/2006/relationships/chart" Target="/ppt/slides/charts/chart1.xml" Id="R70e32d99fc1145d7" /><Relationship Type="http://schemas.openxmlformats.org/officeDocument/2006/relationships/notesSlide" Target="/ppt/notesSlides/notesSlide7.xml" Id="R21df28db511c4a4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08967d942a4059" /><Relationship Type="http://schemas.openxmlformats.org/officeDocument/2006/relationships/image" Target="/ppt/media/image2.png" Id="Ra25748724e784ad7" /><Relationship Type="http://schemas.openxmlformats.org/officeDocument/2006/relationships/notesSlide" Target="/ppt/notesSlides/notesSlide8.xml" Id="Rdcec565daad74a1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5343efa1314402" /><Relationship Type="http://schemas.openxmlformats.org/officeDocument/2006/relationships/image" Target="/ppt/media/image3.png" Id="Rda8a5d6394574cce" /><Relationship Type="http://schemas.openxmlformats.org/officeDocument/2006/relationships/notesSlide" Target="/ppt/notesSlides/notesSlide9.xml" Id="R49e1f1504577475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46f944d88147bc" /><Relationship Type="http://schemas.openxmlformats.org/officeDocument/2006/relationships/image" Target="/ppt/media/image4.png" Id="Ra0407cd2b3034cbe" /><Relationship Type="http://schemas.openxmlformats.org/officeDocument/2006/relationships/notesSlide" Target="/ppt/notesSlides/notesSlide10.xml" Id="Rc6650dede3d34d8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89291f97a24809" /><Relationship Type="http://schemas.openxmlformats.org/officeDocument/2006/relationships/notesSlide" Target="/ppt/notesSlides/notesSlide11.xml" Id="R39b6b377f13f4da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e0868053f44b0b" /><Relationship Type="http://schemas.openxmlformats.org/officeDocument/2006/relationships/notesSlide" Target="/ppt/notesSlides/notesSlide12.xml" Id="Reb56b1eebde54f3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MAE</c:v>
          </c:tx>
          <c:spPr>
            <a:solidFill xmlns:a="http://schemas.openxmlformats.org/drawingml/2006/main">
              <a:srgbClr val="155EEF"/>
            </a:solidFill>
          </c:spPr>
          <c:invertIfNegative val="0"/>
          <c:cat>
            <c:strRef>
              <c:f>'Chart Data'!$A$2:$A$6</c:f>
              <c:strCache>
                <c:ptCount val="5"/>
                <c:pt idx="0">
                  <c:v>Ridge</c:v>
                </c:pt>
                <c:pt idx="1">
                  <c:v>RF log</c:v>
                </c:pt>
                <c:pt idx="2">
                  <c:v>RF</c:v>
                </c:pt>
                <c:pt idx="3">
                  <c:v>Ridge log</c:v>
                </c:pt>
                <c:pt idx="4">
                  <c:v>Mediana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115</c:v>
                </c:pt>
                <c:pt idx="1">
                  <c:v>121.3</c:v>
                </c:pt>
                <c:pt idx="2">
                  <c:v>125.9</c:v>
                </c:pt>
                <c:pt idx="3">
                  <c:v>136.5</c:v>
                </c:pt>
                <c:pt idx="4">
                  <c:v>176.8</c:v>
                </c:pt>
              </c:numCache>
            </c:numRef>
          </c:val>
        </c:ser>
        <c:dLbls>
          <c:numFmt formatCode="0.0" sourceLinked="0"/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9E2EE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MAE en minutos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3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19FD42-0441-42DB-A22B-86A146A88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0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3A8296-F771-4370-8066-A696F392C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57300"/>
            <a:ext cx="9810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Sistema predictivo de duración y severidad de interrupciones eléctricas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292EA2-A918-4F4E-82D1-7C1434D5A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800">
                <a:solidFill>
                  <a:srgbClr val="D7E2F0"/>
                </a:solidFill>
                <a:latin typeface="Arial"/>
                <a:ea typeface="Arial"/>
                <a:cs typeface="Arial"/>
              </a:defRPr>
            </a:defPPr>
            <a:lvl1pPr>
              <a:defRPr sz="1800">
                <a:solidFill>
                  <a:srgbClr val="D7E2F0"/>
                </a:solidFill>
                <a:latin typeface="Arial"/>
                <a:ea typeface="Arial"/>
                <a:cs typeface="Arial"/>
              </a:defRPr>
            </a:lvl1pPr>
            <a:lvl2pPr>
              <a:defRPr sz="1800">
                <a:solidFill>
                  <a:srgbClr val="D7E2F0"/>
                </a:solidFill>
                <a:latin typeface="Arial"/>
                <a:ea typeface="Arial"/>
                <a:cs typeface="Arial"/>
              </a:defRPr>
            </a:lvl2pPr>
            <a:lvl3pPr>
              <a:defRPr sz="1800">
                <a:solidFill>
                  <a:srgbClr val="D7E2F0"/>
                </a:solidFill>
                <a:latin typeface="Arial"/>
                <a:ea typeface="Arial"/>
                <a:cs typeface="Arial"/>
              </a:defRPr>
            </a:lvl3pPr>
            <a:lvl4pPr>
              <a:defRPr sz="1800">
                <a:solidFill>
                  <a:srgbClr val="D7E2F0"/>
                </a:solidFill>
                <a:latin typeface="Arial"/>
                <a:ea typeface="Arial"/>
                <a:cs typeface="Arial"/>
              </a:defRPr>
            </a:lvl4pPr>
            <a:lvl5pPr>
              <a:defRPr sz="1800">
                <a:solidFill>
                  <a:srgbClr val="D7E2F0"/>
                </a:solidFill>
                <a:latin typeface="Arial"/>
                <a:ea typeface="Arial"/>
                <a:cs typeface="Arial"/>
              </a:defRPr>
            </a:lvl5pPr>
            <a:lvl6pPr>
              <a:defRPr sz="1800">
                <a:solidFill>
                  <a:srgbClr val="D7E2F0"/>
                </a:solidFill>
                <a:latin typeface="Arial"/>
                <a:ea typeface="Arial"/>
                <a:cs typeface="Arial"/>
              </a:defRPr>
            </a:lvl6pPr>
            <a:lvl7pPr>
              <a:defRPr sz="1800">
                <a:solidFill>
                  <a:srgbClr val="D7E2F0"/>
                </a:solidFill>
                <a:latin typeface="Arial"/>
                <a:ea typeface="Arial"/>
                <a:cs typeface="Arial"/>
              </a:defRPr>
            </a:lvl7pPr>
            <a:lvl8pPr>
              <a:defRPr sz="1800">
                <a:solidFill>
                  <a:srgbClr val="D7E2F0"/>
                </a:solidFill>
                <a:latin typeface="Arial"/>
                <a:ea typeface="Arial"/>
                <a:cs typeface="Arial"/>
              </a:defRPr>
            </a:lvl8pPr>
            <a:lvl9pPr>
              <a:defRPr sz="1800">
                <a:solidFill>
                  <a:srgbClr val="D7E2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>
                <a:solidFill>
                  <a:srgbClr val="D7E2F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D7E2F0"/>
                </a:solidFill>
                <a:latin typeface="Arial"/>
                <a:ea typeface="Arial"/>
                <a:cs typeface="Arial"/>
              </a:rPr>
              <a:t>Proyecto final integrador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BCE5C6-9E97-4C8A-A685-FD43D297C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619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350">
                <a:solidFill>
                  <a:srgbClr val="B9C8DE"/>
                </a:solidFill>
                <a:latin typeface="Arial"/>
                <a:ea typeface="Arial"/>
                <a:cs typeface="Arial"/>
              </a:defRPr>
            </a:defPPr>
            <a:lvl1pPr>
              <a:defRPr sz="1350">
                <a:solidFill>
                  <a:srgbClr val="B9C8DE"/>
                </a:solidFill>
                <a:latin typeface="Arial"/>
                <a:ea typeface="Arial"/>
                <a:cs typeface="Arial"/>
              </a:defRPr>
            </a:lvl1pPr>
            <a:lvl2pPr>
              <a:defRPr sz="1350">
                <a:solidFill>
                  <a:srgbClr val="B9C8DE"/>
                </a:solidFill>
                <a:latin typeface="Arial"/>
                <a:ea typeface="Arial"/>
                <a:cs typeface="Arial"/>
              </a:defRPr>
            </a:lvl2pPr>
            <a:lvl3pPr>
              <a:defRPr sz="1350">
                <a:solidFill>
                  <a:srgbClr val="B9C8DE"/>
                </a:solidFill>
                <a:latin typeface="Arial"/>
                <a:ea typeface="Arial"/>
                <a:cs typeface="Arial"/>
              </a:defRPr>
            </a:lvl3pPr>
            <a:lvl4pPr>
              <a:defRPr sz="1350">
                <a:solidFill>
                  <a:srgbClr val="B9C8DE"/>
                </a:solidFill>
                <a:latin typeface="Arial"/>
                <a:ea typeface="Arial"/>
                <a:cs typeface="Arial"/>
              </a:defRPr>
            </a:lvl4pPr>
            <a:lvl5pPr>
              <a:defRPr sz="1350">
                <a:solidFill>
                  <a:srgbClr val="B9C8DE"/>
                </a:solidFill>
                <a:latin typeface="Arial"/>
                <a:ea typeface="Arial"/>
                <a:cs typeface="Arial"/>
              </a:defRPr>
            </a:lvl5pPr>
            <a:lvl6pPr>
              <a:defRPr sz="1350">
                <a:solidFill>
                  <a:srgbClr val="B9C8DE"/>
                </a:solidFill>
                <a:latin typeface="Arial"/>
                <a:ea typeface="Arial"/>
                <a:cs typeface="Arial"/>
              </a:defRPr>
            </a:lvl6pPr>
            <a:lvl7pPr>
              <a:defRPr sz="1350">
                <a:solidFill>
                  <a:srgbClr val="B9C8DE"/>
                </a:solidFill>
                <a:latin typeface="Arial"/>
                <a:ea typeface="Arial"/>
                <a:cs typeface="Arial"/>
              </a:defRPr>
            </a:lvl7pPr>
            <a:lvl8pPr>
              <a:defRPr sz="1350">
                <a:solidFill>
                  <a:srgbClr val="B9C8DE"/>
                </a:solidFill>
                <a:latin typeface="Arial"/>
                <a:ea typeface="Arial"/>
                <a:cs typeface="Arial"/>
              </a:defRPr>
            </a:lvl8pPr>
            <a:lvl9pPr>
              <a:defRPr sz="1350">
                <a:solidFill>
                  <a:srgbClr val="B9C8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>
                <a:solidFill>
                  <a:srgbClr val="B9C8DE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B9C8DE"/>
                </a:solidFill>
                <a:latin typeface="Arial"/>
                <a:ea typeface="Arial"/>
                <a:cs typeface="Arial"/>
              </a:rPr>
              <a:t>Anthony Ventura</a:t>
            </a:r>
          </a:p>
          <a:p xmlns:a="http://schemas.openxmlformats.org/drawingml/2006/main">
            <a:pPr>
              <a:defRPr sz="1350">
                <a:solidFill>
                  <a:srgbClr val="B9C8DE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B9C8DE"/>
                </a:solidFill>
                <a:latin typeface="Arial"/>
                <a:ea typeface="Arial"/>
                <a:cs typeface="Arial"/>
              </a:rPr>
              <a:t>Python aplicado a la IA y Web Scraping</a:t>
            </a:r>
          </a:p>
          <a:p xmlns:a="http://schemas.openxmlformats.org/drawingml/2006/main">
            <a:pPr>
              <a:defRPr sz="1350">
                <a:solidFill>
                  <a:srgbClr val="B9C8DE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B9C8DE"/>
                </a:solidFill>
                <a:latin typeface="Arial"/>
                <a:ea typeface="Arial"/>
                <a:cs typeface="Arial"/>
              </a:rPr>
              <a:t>Octubre de 2026</a:t>
            </a:r>
          </a:p>
        </p:txBody>
      </p:sp>
    </p:spTree>
    <p:extLst>
      <p:ext uri="{BB962C8B-B14F-4D97-AF65-F5344CB8AC3E}">
        <p14:creationId xmlns:p14="http://schemas.microsoft.com/office/powerpoint/2010/main" val="7768118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C5A38D-04BC-42C5-AFD7-D36C29E6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Problema y objetivo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1B3B13-3C05-4855-9424-D1E0B53B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A8BA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996956-5BF8-4810-8BBC-F48C0C0C4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504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5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Una interrupción comienza con información incompleta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D67D68-92E1-4F70-B46E-6AC7A3DC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4857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725">
                <a:solidFill>
                  <a:srgbClr val="53657A"/>
                </a:solidFill>
                <a:latin typeface="Arial"/>
                <a:ea typeface="Arial"/>
                <a:cs typeface="Arial"/>
              </a:defRPr>
            </a:defPPr>
            <a:lvl1pPr>
              <a:defRPr sz="1725">
                <a:solidFill>
                  <a:srgbClr val="53657A"/>
                </a:solidFill>
                <a:latin typeface="Arial"/>
                <a:ea typeface="Arial"/>
                <a:cs typeface="Arial"/>
              </a:defRPr>
            </a:lvl1pPr>
            <a:lvl2pPr>
              <a:defRPr sz="1725">
                <a:solidFill>
                  <a:srgbClr val="53657A"/>
                </a:solidFill>
                <a:latin typeface="Arial"/>
                <a:ea typeface="Arial"/>
                <a:cs typeface="Arial"/>
              </a:defRPr>
            </a:lvl2pPr>
            <a:lvl3pPr>
              <a:defRPr sz="1725">
                <a:solidFill>
                  <a:srgbClr val="53657A"/>
                </a:solidFill>
                <a:latin typeface="Arial"/>
                <a:ea typeface="Arial"/>
                <a:cs typeface="Arial"/>
              </a:defRPr>
            </a:lvl3pPr>
            <a:lvl4pPr>
              <a:defRPr sz="1725">
                <a:solidFill>
                  <a:srgbClr val="53657A"/>
                </a:solidFill>
                <a:latin typeface="Arial"/>
                <a:ea typeface="Arial"/>
                <a:cs typeface="Arial"/>
              </a:defRPr>
            </a:lvl4pPr>
            <a:lvl5pPr>
              <a:defRPr sz="1725">
                <a:solidFill>
                  <a:srgbClr val="53657A"/>
                </a:solidFill>
                <a:latin typeface="Arial"/>
                <a:ea typeface="Arial"/>
                <a:cs typeface="Arial"/>
              </a:defRPr>
            </a:lvl5pPr>
            <a:lvl6pPr>
              <a:defRPr sz="1725">
                <a:solidFill>
                  <a:srgbClr val="53657A"/>
                </a:solidFill>
                <a:latin typeface="Arial"/>
                <a:ea typeface="Arial"/>
                <a:cs typeface="Arial"/>
              </a:defRPr>
            </a:lvl6pPr>
            <a:lvl7pPr>
              <a:defRPr sz="1725">
                <a:solidFill>
                  <a:srgbClr val="53657A"/>
                </a:solidFill>
                <a:latin typeface="Arial"/>
                <a:ea typeface="Arial"/>
                <a:cs typeface="Arial"/>
              </a:defRPr>
            </a:lvl7pPr>
            <a:lvl8pPr>
              <a:defRPr sz="1725">
                <a:solidFill>
                  <a:srgbClr val="53657A"/>
                </a:solidFill>
                <a:latin typeface="Arial"/>
                <a:ea typeface="Arial"/>
                <a:cs typeface="Arial"/>
              </a:defRPr>
            </a:lvl8pPr>
            <a:lvl9pPr>
              <a:defRPr sz="1725">
                <a:solidFill>
                  <a:srgbClr val="53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3657A"/>
                </a:solidFill>
                <a:latin typeface="Arial"/>
                <a:ea typeface="Arial"/>
                <a:cs typeface="Arial"/>
              </a:rPr>
              <a:t>El proyecto estima su duración y clasifica una severidad académica con datos disponibles al inicio del evento.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207519-62BA-450F-A9EA-7D02B20C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333500"/>
            <a:ext cx="4953000" cy="36195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8122D5-AA48-4682-9BE0-8FCB0F13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895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5EE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0B0E53-25E6-409D-B690-4EC0A5082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09750"/>
            <a:ext cx="3771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650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  <a:lvl1pPr>
              <a:defRPr sz="165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1pPr>
            <a:lvl2pPr>
              <a:defRPr sz="165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2pPr>
            <a:lvl3pPr>
              <a:defRPr sz="165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3pPr>
            <a:lvl4pPr>
              <a:defRPr sz="165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4pPr>
            <a:lvl5pPr>
              <a:defRPr sz="165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5pPr>
            <a:lvl6pPr>
              <a:defRPr sz="165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6pPr>
            <a:lvl7pPr>
              <a:defRPr sz="165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7pPr>
            <a:lvl8pPr>
              <a:defRPr sz="165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8pPr>
            <a:lvl9pPr>
              <a:defRPr sz="165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B4D"/>
                </a:solidFill>
                <a:latin typeface="Arial"/>
                <a:ea typeface="Arial"/>
                <a:cs typeface="Arial"/>
              </a:rPr>
              <a:t>Descarga y limpieza reproducible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BE10DA-FD36-4CA8-9AE0-776DD8B31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812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5EE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C667EB-AD7A-4A80-9C49-0EB261B60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95550"/>
            <a:ext cx="3771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650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  <a:lvl1pPr>
              <a:defRPr sz="165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1pPr>
            <a:lvl2pPr>
              <a:defRPr sz="165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2pPr>
            <a:lvl3pPr>
              <a:defRPr sz="165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3pPr>
            <a:lvl4pPr>
              <a:defRPr sz="165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4pPr>
            <a:lvl5pPr>
              <a:defRPr sz="165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5pPr>
            <a:lvl6pPr>
              <a:defRPr sz="165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6pPr>
            <a:lvl7pPr>
              <a:defRPr sz="165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7pPr>
            <a:lvl8pPr>
              <a:defRPr sz="165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8pPr>
            <a:lvl9pPr>
              <a:defRPr sz="165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B4D"/>
                </a:solidFill>
                <a:latin typeface="Arial"/>
                <a:ea typeface="Arial"/>
                <a:cs typeface="Arial"/>
              </a:rPr>
              <a:t>Comparación temporal de modelos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A1C341-E10C-43A8-AFA0-B311D7BC0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670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5EE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BB2B17-AD88-4015-BF93-F51DA14BC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181350"/>
            <a:ext cx="3771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650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  <a:lvl1pPr>
              <a:defRPr sz="165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1pPr>
            <a:lvl2pPr>
              <a:defRPr sz="165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2pPr>
            <a:lvl3pPr>
              <a:defRPr sz="165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3pPr>
            <a:lvl4pPr>
              <a:defRPr sz="165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4pPr>
            <a:lvl5pPr>
              <a:defRPr sz="165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5pPr>
            <a:lvl6pPr>
              <a:defRPr sz="165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6pPr>
            <a:lvl7pPr>
              <a:defRPr sz="165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7pPr>
            <a:lvl8pPr>
              <a:defRPr sz="165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8pPr>
            <a:lvl9pPr>
              <a:defRPr sz="165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B4D"/>
                </a:solidFill>
                <a:latin typeface="Arial"/>
                <a:ea typeface="Arial"/>
                <a:cs typeface="Arial"/>
              </a:rPr>
              <a:t>Predicción mediante API y dashboard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092BB8-21E7-407C-959F-35A014EE1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9528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5EE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B3566B-3423-42C5-A672-96DBD4485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867150"/>
            <a:ext cx="3771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650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  <a:lvl1pPr>
              <a:defRPr sz="165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1pPr>
            <a:lvl2pPr>
              <a:defRPr sz="165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2pPr>
            <a:lvl3pPr>
              <a:defRPr sz="165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3pPr>
            <a:lvl4pPr>
              <a:defRPr sz="165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4pPr>
            <a:lvl5pPr>
              <a:defRPr sz="165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5pPr>
            <a:lvl6pPr>
              <a:defRPr sz="165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6pPr>
            <a:lvl7pPr>
              <a:defRPr sz="165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7pPr>
            <a:lvl8pPr>
              <a:defRPr sz="165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8pPr>
            <a:lvl9pPr>
              <a:defRPr sz="165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B4D"/>
                </a:solidFill>
                <a:latin typeface="Arial"/>
                <a:ea typeface="Arial"/>
                <a:cs typeface="Arial"/>
              </a:rPr>
              <a:t>Actualización y reentrenamiento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D38C44-F841-43C4-93D5-99DC8D84C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>
            <a:defPPr>
              <a:defRPr sz="750">
                <a:solidFill>
                  <a:srgbClr val="77869A"/>
                </a:solidFill>
                <a:latin typeface="Arial"/>
                <a:ea typeface="Arial"/>
                <a:cs typeface="Arial"/>
              </a:defRPr>
            </a:defPPr>
            <a:lvl1pPr>
              <a:defRPr sz="750">
                <a:solidFill>
                  <a:srgbClr val="77869A"/>
                </a:solidFill>
                <a:latin typeface="Arial"/>
                <a:ea typeface="Arial"/>
                <a:cs typeface="Arial"/>
              </a:defRPr>
            </a:lvl1pPr>
            <a:lvl2pPr>
              <a:defRPr sz="750">
                <a:solidFill>
                  <a:srgbClr val="77869A"/>
                </a:solidFill>
                <a:latin typeface="Arial"/>
                <a:ea typeface="Arial"/>
                <a:cs typeface="Arial"/>
              </a:defRPr>
            </a:lvl2pPr>
            <a:lvl3pPr>
              <a:defRPr sz="750">
                <a:solidFill>
                  <a:srgbClr val="77869A"/>
                </a:solidFill>
                <a:latin typeface="Arial"/>
                <a:ea typeface="Arial"/>
                <a:cs typeface="Arial"/>
              </a:defRPr>
            </a:lvl3pPr>
            <a:lvl4pPr>
              <a:defRPr sz="750">
                <a:solidFill>
                  <a:srgbClr val="77869A"/>
                </a:solidFill>
                <a:latin typeface="Arial"/>
                <a:ea typeface="Arial"/>
                <a:cs typeface="Arial"/>
              </a:defRPr>
            </a:lvl4pPr>
            <a:lvl5pPr>
              <a:defRPr sz="750">
                <a:solidFill>
                  <a:srgbClr val="77869A"/>
                </a:solidFill>
                <a:latin typeface="Arial"/>
                <a:ea typeface="Arial"/>
                <a:cs typeface="Arial"/>
              </a:defRPr>
            </a:lvl5pPr>
            <a:lvl6pPr>
              <a:defRPr sz="750">
                <a:solidFill>
                  <a:srgbClr val="77869A"/>
                </a:solidFill>
                <a:latin typeface="Arial"/>
                <a:ea typeface="Arial"/>
                <a:cs typeface="Arial"/>
              </a:defRPr>
            </a:lvl6pPr>
            <a:lvl7pPr>
              <a:defRPr sz="750">
                <a:solidFill>
                  <a:srgbClr val="77869A"/>
                </a:solidFill>
                <a:latin typeface="Arial"/>
                <a:ea typeface="Arial"/>
                <a:cs typeface="Arial"/>
              </a:defRPr>
            </a:lvl7pPr>
            <a:lvl8pPr>
              <a:defRPr sz="750">
                <a:solidFill>
                  <a:srgbClr val="77869A"/>
                </a:solidFill>
                <a:latin typeface="Arial"/>
                <a:ea typeface="Arial"/>
                <a:cs typeface="Arial"/>
              </a:defRPr>
            </a:lvl8pPr>
            <a:lvl9pPr>
              <a:defRPr sz="750">
                <a:solidFill>
                  <a:srgbClr val="7786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750">
                <a:solidFill>
                  <a:srgbClr val="77869A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77869A"/>
                </a:solidFill>
                <a:latin typeface="Arial"/>
                <a:ea typeface="Arial"/>
                <a:cs typeface="Arial"/>
              </a:rPr>
              <a:t>Alcance: prototipo académico para apoyo analítico</a:t>
            </a:r>
          </a:p>
        </p:txBody>
      </p:sp>
    </p:spTree>
    <p:extLst>
      <p:ext uri="{BB962C8B-B14F-4D97-AF65-F5344CB8AC3E}">
        <p14:creationId xmlns:p14="http://schemas.microsoft.com/office/powerpoint/2010/main" val="5353344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9E7C31-D89F-4008-856D-2A2417BC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Datos públicos de Osinergmin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FC489F-CACB-4147-A260-2C735FC5D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A8BA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0F42FB-DBD8-4518-843B-709F8E89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330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5EEF"/>
                </a:solidFill>
                <a:latin typeface="Arial"/>
                <a:ea typeface="Arial"/>
                <a:cs typeface="Arial"/>
              </a:rPr>
              <a:t>492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34998A-6B5D-4166-BBB3-4643F678F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336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3657A"/>
                </a:solidFill>
                <a:latin typeface="Arial"/>
                <a:ea typeface="Arial"/>
                <a:cs typeface="Arial"/>
              </a:rPr>
              <a:t>interrupciones de 2019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D36BF1-4CFC-4F97-A137-751F22109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4287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3300" b="1">
                <a:solidFill>
                  <a:srgbClr val="F79009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F79009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F79009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F79009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F79009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F79009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F79009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F79009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F79009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F7900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7900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79009"/>
                </a:solidFill>
                <a:latin typeface="Arial"/>
                <a:ea typeface="Arial"/>
                <a:cs typeface="Arial"/>
              </a:rPr>
              <a:t>155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572A2C-F9F5-4244-8C06-A1442B068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336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3657A"/>
                </a:solidFill>
                <a:latin typeface="Arial"/>
                <a:ea typeface="Arial"/>
                <a:cs typeface="Arial"/>
              </a:rPr>
              <a:t>puntos de entrega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FD233D-DE39-4482-8209-C1A77C65E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4287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3300" b="1">
                <a:solidFill>
                  <a:srgbClr val="12B76A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2B76A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2B76A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2B76A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2B76A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2B76A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2B76A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2B76A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2B76A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2B7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B76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B76A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341F6E-E87C-4D72-9305-675CA95DD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336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3657A"/>
                </a:solidFill>
                <a:latin typeface="Arial"/>
                <a:ea typeface="Arial"/>
                <a:cs typeface="Arial"/>
              </a:rPr>
              <a:t>variables de entrada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EDD4A9-82D6-4C35-9C72-815B0FC15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766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3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Capa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37D06F-9CAE-4427-9A7D-33CA67FE5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500">
                <a:solidFill>
                  <a:srgbClr val="53657A"/>
                </a:solidFill>
                <a:latin typeface="Arial"/>
                <a:ea typeface="Arial"/>
                <a:cs typeface="Arial"/>
              </a:defRPr>
            </a:defPPr>
            <a:lvl1pPr>
              <a:defRPr sz="15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1pPr>
            <a:lvl2pPr>
              <a:defRPr sz="15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2pPr>
            <a:lvl3pPr>
              <a:defRPr sz="15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3pPr>
            <a:lvl4pPr>
              <a:defRPr sz="15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4pPr>
            <a:lvl5pPr>
              <a:defRPr sz="15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5pPr>
            <a:lvl6pPr>
              <a:defRPr sz="15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6pPr>
            <a:lvl7pPr>
              <a:defRPr sz="15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7pPr>
            <a:lvl8pPr>
              <a:defRPr sz="15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8pPr>
            <a:lvl9pPr>
              <a:defRPr sz="15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3657A"/>
                </a:solidFill>
                <a:latin typeface="Arial"/>
                <a:ea typeface="Arial"/>
                <a:cs typeface="Arial"/>
              </a:rPr>
              <a:t>Inicio, fin, tipo, causa, cliente y suministrador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C0B5A9-6501-4DF0-93EF-B7A42474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4766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3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Capa 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3E574B-4CED-4C29-BC85-DE3F1FE1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90525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500">
                <a:solidFill>
                  <a:srgbClr val="53657A"/>
                </a:solidFill>
                <a:latin typeface="Arial"/>
                <a:ea typeface="Arial"/>
                <a:cs typeface="Arial"/>
              </a:defRPr>
            </a:defPPr>
            <a:lvl1pPr>
              <a:defRPr sz="15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1pPr>
            <a:lvl2pPr>
              <a:defRPr sz="15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2pPr>
            <a:lvl3pPr>
              <a:defRPr sz="15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3pPr>
            <a:lvl4pPr>
              <a:defRPr sz="15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4pPr>
            <a:lvl5pPr>
              <a:defRPr sz="15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5pPr>
            <a:lvl6pPr>
              <a:defRPr sz="15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6pPr>
            <a:lvl7pPr>
              <a:defRPr sz="15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7pPr>
            <a:lvl8pPr>
              <a:defRPr sz="15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8pPr>
            <a:lvl9pPr>
              <a:defRPr sz="15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3657A"/>
                </a:solidFill>
                <a:latin typeface="Arial"/>
                <a:ea typeface="Arial"/>
                <a:cs typeface="Arial"/>
              </a:rPr>
              <a:t>Subestación, propietario, coordenadas y tensión nominal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A7B35F-3035-4A66-8CFE-42D27F6C5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766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3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Salida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F1CEC0-0BAA-4522-9BC1-312311C30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9052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500">
                <a:solidFill>
                  <a:srgbClr val="53657A"/>
                </a:solidFill>
                <a:latin typeface="Arial"/>
                <a:ea typeface="Arial"/>
                <a:cs typeface="Arial"/>
              </a:defRPr>
            </a:defPPr>
            <a:lvl1pPr>
              <a:defRPr sz="15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1pPr>
            <a:lvl2pPr>
              <a:defRPr sz="15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2pPr>
            <a:lvl3pPr>
              <a:defRPr sz="15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3pPr>
            <a:lvl4pPr>
              <a:defRPr sz="15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4pPr>
            <a:lvl5pPr>
              <a:defRPr sz="15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5pPr>
            <a:lvl6pPr>
              <a:defRPr sz="15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6pPr>
            <a:lvl7pPr>
              <a:defRPr sz="15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7pPr>
            <a:lvl8pPr>
              <a:defRPr sz="15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8pPr>
            <a:lvl9pPr>
              <a:defRPr sz="15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3657A"/>
                </a:solidFill>
                <a:latin typeface="Arial"/>
                <a:ea typeface="Arial"/>
                <a:cs typeface="Arial"/>
              </a:rPr>
              <a:t>Base integrada con duración y variables temporales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1C4197-DA88-4783-9820-CC6C4EC31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>
            <a:defPPr>
              <a:defRPr sz="750">
                <a:solidFill>
                  <a:srgbClr val="77869A"/>
                </a:solidFill>
                <a:latin typeface="Arial"/>
                <a:ea typeface="Arial"/>
                <a:cs typeface="Arial"/>
              </a:defRPr>
            </a:defPPr>
            <a:lvl1pPr>
              <a:defRPr sz="750">
                <a:solidFill>
                  <a:srgbClr val="77869A"/>
                </a:solidFill>
                <a:latin typeface="Arial"/>
                <a:ea typeface="Arial"/>
                <a:cs typeface="Arial"/>
              </a:defRPr>
            </a:lvl1pPr>
            <a:lvl2pPr>
              <a:defRPr sz="750">
                <a:solidFill>
                  <a:srgbClr val="77869A"/>
                </a:solidFill>
                <a:latin typeface="Arial"/>
                <a:ea typeface="Arial"/>
                <a:cs typeface="Arial"/>
              </a:defRPr>
            </a:lvl2pPr>
            <a:lvl3pPr>
              <a:defRPr sz="750">
                <a:solidFill>
                  <a:srgbClr val="77869A"/>
                </a:solidFill>
                <a:latin typeface="Arial"/>
                <a:ea typeface="Arial"/>
                <a:cs typeface="Arial"/>
              </a:defRPr>
            </a:lvl3pPr>
            <a:lvl4pPr>
              <a:defRPr sz="750">
                <a:solidFill>
                  <a:srgbClr val="77869A"/>
                </a:solidFill>
                <a:latin typeface="Arial"/>
                <a:ea typeface="Arial"/>
                <a:cs typeface="Arial"/>
              </a:defRPr>
            </a:lvl4pPr>
            <a:lvl5pPr>
              <a:defRPr sz="750">
                <a:solidFill>
                  <a:srgbClr val="77869A"/>
                </a:solidFill>
                <a:latin typeface="Arial"/>
                <a:ea typeface="Arial"/>
                <a:cs typeface="Arial"/>
              </a:defRPr>
            </a:lvl5pPr>
            <a:lvl6pPr>
              <a:defRPr sz="750">
                <a:solidFill>
                  <a:srgbClr val="77869A"/>
                </a:solidFill>
                <a:latin typeface="Arial"/>
                <a:ea typeface="Arial"/>
                <a:cs typeface="Arial"/>
              </a:defRPr>
            </a:lvl6pPr>
            <a:lvl7pPr>
              <a:defRPr sz="750">
                <a:solidFill>
                  <a:srgbClr val="77869A"/>
                </a:solidFill>
                <a:latin typeface="Arial"/>
                <a:ea typeface="Arial"/>
                <a:cs typeface="Arial"/>
              </a:defRPr>
            </a:lvl7pPr>
            <a:lvl8pPr>
              <a:defRPr sz="750">
                <a:solidFill>
                  <a:srgbClr val="77869A"/>
                </a:solidFill>
                <a:latin typeface="Arial"/>
                <a:ea typeface="Arial"/>
                <a:cs typeface="Arial"/>
              </a:defRPr>
            </a:lvl8pPr>
            <a:lvl9pPr>
              <a:defRPr sz="750">
                <a:solidFill>
                  <a:srgbClr val="7786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750">
                <a:solidFill>
                  <a:srgbClr val="77869A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77869A"/>
                </a:solidFill>
                <a:latin typeface="Arial"/>
                <a:ea typeface="Arial"/>
                <a:cs typeface="Arial"/>
              </a:rPr>
              <a:t>Fuente: Osinergmin, servicio ArcGIS REST Mapa SEIN y calidad</a:t>
            </a:r>
          </a:p>
        </p:txBody>
      </p:sp>
    </p:spTree>
    <p:extLst>
      <p:ext uri="{BB962C8B-B14F-4D97-AF65-F5344CB8AC3E}">
        <p14:creationId xmlns:p14="http://schemas.microsoft.com/office/powerpoint/2010/main" val="6429811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7CAF96-70F7-42A5-9F8E-5453C91C5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Pipeline del proyecto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D2595F-F1BF-4D1D-8736-253A30863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A8BA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77C700-21DE-4665-BDBC-90FD79C28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0"/>
            <a:ext cx="1828800" cy="200025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269027-7A05-48A8-A6FB-2EE630217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24100"/>
            <a:ext cx="647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225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55EE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FFE1A4-1146-4C3E-86EF-687C738E7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048000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Ingesta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E6E799-ACB5-41D5-AB20-31405C3F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505200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125">
                <a:solidFill>
                  <a:srgbClr val="53657A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53657A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53657A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53657A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53657A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53657A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53657A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53657A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53657A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53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3657A"/>
                </a:solidFill>
                <a:latin typeface="Arial"/>
                <a:ea typeface="Arial"/>
                <a:cs typeface="Arial"/>
              </a:rPr>
              <a:t>ArcGIS REST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ABF246-C998-489E-A47C-5BDF55261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3095625"/>
            <a:ext cx="3429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8CA0B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24CACA-D906-488B-AA7D-A8CA29E2E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095500"/>
            <a:ext cx="1828800" cy="200025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5AA894-1F32-4331-9262-D1D5E4853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324100"/>
            <a:ext cx="647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225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55EE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4D15AE-086C-40AE-B58E-61A990B53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048000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Calidad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040DCA-049F-413E-8079-93C2FE33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505200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125">
                <a:solidFill>
                  <a:srgbClr val="53657A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53657A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53657A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53657A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53657A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53657A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53657A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53657A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53657A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53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3657A"/>
                </a:solidFill>
                <a:latin typeface="Arial"/>
                <a:ea typeface="Arial"/>
                <a:cs typeface="Arial"/>
              </a:rPr>
              <a:t>Fechas y duplicados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DF181C-7E40-4309-B96A-835BA701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095625"/>
            <a:ext cx="3429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8CA0B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D39F21-372F-40FC-B347-ECE84A542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095500"/>
            <a:ext cx="1828800" cy="200025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43F282-4520-483E-828F-A324213BC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2324100"/>
            <a:ext cx="647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225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55EE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78755C-2279-49DA-9234-F81FF705D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048000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Variables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6A3208-43D7-47F5-B736-4270E16D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505200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125">
                <a:solidFill>
                  <a:srgbClr val="53657A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53657A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53657A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53657A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53657A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53657A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53657A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53657A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53657A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53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3657A"/>
                </a:solidFill>
                <a:latin typeface="Arial"/>
                <a:ea typeface="Arial"/>
                <a:cs typeface="Arial"/>
              </a:rPr>
              <a:t>Evento y tiempo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856077-5262-4567-8666-D9E795F7B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095625"/>
            <a:ext cx="3429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8CA0B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B96ADE-0CEB-48D2-87FE-998603AB9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095500"/>
            <a:ext cx="1828800" cy="200025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1437BF-FA75-4131-820C-F3202F2DF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324100"/>
            <a:ext cx="647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225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55EE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82EF79-EF2D-4FA3-B4B8-08F6B2D7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048000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Modelos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34CBE1-AD31-4E21-A8FE-0ADB69528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505200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125">
                <a:solidFill>
                  <a:srgbClr val="53657A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53657A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53657A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53657A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53657A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53657A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53657A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53657A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53657A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53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3657A"/>
                </a:solidFill>
                <a:latin typeface="Arial"/>
                <a:ea typeface="Arial"/>
                <a:cs typeface="Arial"/>
              </a:rPr>
              <a:t>Duración y severidad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24E740-C10B-4A55-95B0-F288CCF20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095625"/>
            <a:ext cx="3429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8CA0B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E57BCC-3E1B-4306-9951-7C6983255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2095500"/>
            <a:ext cx="1828800" cy="200025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44B4E2-DB0A-413E-9F9E-ADB25DF6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324100"/>
            <a:ext cx="647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225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55EE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2384B5-FD08-4ADE-85BA-EE1286568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3048000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Servicio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C4FB72-731F-420F-ADF0-DD06C267B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3505200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125">
                <a:solidFill>
                  <a:srgbClr val="53657A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53657A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53657A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53657A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53657A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53657A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53657A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53657A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53657A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53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3657A"/>
                </a:solidFill>
                <a:latin typeface="Arial"/>
                <a:ea typeface="Arial"/>
                <a:cs typeface="Arial"/>
              </a:rPr>
              <a:t>API y dashboard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9FE7AD-26B7-4EAF-87C3-79F98A82E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577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650">
                <a:solidFill>
                  <a:srgbClr val="53657A"/>
                </a:solidFill>
                <a:latin typeface="Arial"/>
                <a:ea typeface="Arial"/>
                <a:cs typeface="Arial"/>
              </a:defRPr>
            </a:defPPr>
            <a:lvl1pPr>
              <a:defRPr sz="165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1pPr>
            <a:lvl2pPr>
              <a:defRPr sz="165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2pPr>
            <a:lvl3pPr>
              <a:defRPr sz="165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3pPr>
            <a:lvl4pPr>
              <a:defRPr sz="165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4pPr>
            <a:lvl5pPr>
              <a:defRPr sz="165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5pPr>
            <a:lvl6pPr>
              <a:defRPr sz="165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6pPr>
            <a:lvl7pPr>
              <a:defRPr sz="165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7pPr>
            <a:lvl8pPr>
              <a:defRPr sz="165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8pPr>
            <a:lvl9pPr>
              <a:defRPr sz="165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3657A"/>
                </a:solidFill>
                <a:latin typeface="Arial"/>
                <a:ea typeface="Arial"/>
                <a:cs typeface="Arial"/>
              </a:rPr>
              <a:t>La fase 3 repite el flujo y registra cada nueva versión del modelo</a:t>
            </a:r>
          </a:p>
        </p:txBody>
      </p:sp>
    </p:spTree>
    <p:extLst>
      <p:ext uri="{BB962C8B-B14F-4D97-AF65-F5344CB8AC3E}">
        <p14:creationId xmlns:p14="http://schemas.microsoft.com/office/powerpoint/2010/main" val="21295875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3797C9-ECF0-4CA2-80FA-2B3DBEA39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Preparación y control de fuga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3EE768-2102-43A2-9216-D5A8AB69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A8BA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488D93-871F-4CF1-9B4B-26AA9BC47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35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5EEF"/>
                </a:solidFill>
                <a:latin typeface="Arial"/>
                <a:ea typeface="Arial"/>
                <a:cs typeface="Arial"/>
              </a:rPr>
              <a:t>Duración objetivo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E42A69-F5E3-4D59-9164-F32E98C70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87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Fin menos inicio, medida en minutos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18AD05-69CF-4B4D-9517-48947E989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35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5EEF"/>
                </a:solidFill>
                <a:latin typeface="Arial"/>
                <a:ea typeface="Arial"/>
                <a:cs typeface="Arial"/>
              </a:rPr>
              <a:t>Variables disponibles al inicio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2AE4AC-D957-404C-936F-47426E2B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099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5EE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AE35E3-A6F5-4B3D-8FCA-05B93372F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3771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425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  <a:lvl1pPr>
              <a:defRPr sz="142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1pPr>
            <a:lvl2pPr>
              <a:defRPr sz="142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2pPr>
            <a:lvl3pPr>
              <a:defRPr sz="142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3pPr>
            <a:lvl4pPr>
              <a:defRPr sz="142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4pPr>
            <a:lvl5pPr>
              <a:defRPr sz="142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5pPr>
            <a:lvl6pPr>
              <a:defRPr sz="142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6pPr>
            <a:lvl7pPr>
              <a:defRPr sz="142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7pPr>
            <a:lvl8pPr>
              <a:defRPr sz="142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8pPr>
            <a:lvl9pPr>
              <a:defRPr sz="142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B4D"/>
                </a:solidFill>
                <a:latin typeface="Arial"/>
                <a:ea typeface="Arial"/>
                <a:cs typeface="Arial"/>
              </a:rPr>
              <a:t>Tipo y causa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025BA5-F5A1-46CB-AEBF-8EFDEB4B9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671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5EE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42BF14-6B95-4BCB-A86B-623CB5C7D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81450"/>
            <a:ext cx="3771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425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  <a:lvl1pPr>
              <a:defRPr sz="142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1pPr>
            <a:lvl2pPr>
              <a:defRPr sz="142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2pPr>
            <a:lvl3pPr>
              <a:defRPr sz="142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3pPr>
            <a:lvl4pPr>
              <a:defRPr sz="142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4pPr>
            <a:lvl5pPr>
              <a:defRPr sz="142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5pPr>
            <a:lvl6pPr>
              <a:defRPr sz="142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6pPr>
            <a:lvl7pPr>
              <a:defRPr sz="142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7pPr>
            <a:lvl8pPr>
              <a:defRPr sz="142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8pPr>
            <a:lvl9pPr>
              <a:defRPr sz="142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B4D"/>
                </a:solidFill>
                <a:latin typeface="Arial"/>
                <a:ea typeface="Arial"/>
                <a:cs typeface="Arial"/>
              </a:rPr>
              <a:t>Cliente y suministrador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EDCA38-1532-499F-97B8-00D0AE46F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243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5EE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B05457-2C50-4898-840F-C406C2A7A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38650"/>
            <a:ext cx="3771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425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  <a:lvl1pPr>
              <a:defRPr sz="142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1pPr>
            <a:lvl2pPr>
              <a:defRPr sz="142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2pPr>
            <a:lvl3pPr>
              <a:defRPr sz="142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3pPr>
            <a:lvl4pPr>
              <a:defRPr sz="142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4pPr>
            <a:lvl5pPr>
              <a:defRPr sz="142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5pPr>
            <a:lvl6pPr>
              <a:defRPr sz="142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6pPr>
            <a:lvl7pPr>
              <a:defRPr sz="142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7pPr>
            <a:lvl8pPr>
              <a:defRPr sz="142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8pPr>
            <a:lvl9pPr>
              <a:defRPr sz="142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B4D"/>
                </a:solidFill>
                <a:latin typeface="Arial"/>
                <a:ea typeface="Arial"/>
                <a:cs typeface="Arial"/>
              </a:rPr>
              <a:t>Tensión nominal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B526B5-365C-435D-8827-DD74F3B27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815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5EE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85EC7E-2809-4001-B5D9-862341E3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95850"/>
            <a:ext cx="3771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425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  <a:lvl1pPr>
              <a:defRPr sz="142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1pPr>
            <a:lvl2pPr>
              <a:defRPr sz="142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2pPr>
            <a:lvl3pPr>
              <a:defRPr sz="142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3pPr>
            <a:lvl4pPr>
              <a:defRPr sz="142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4pPr>
            <a:lvl5pPr>
              <a:defRPr sz="142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5pPr>
            <a:lvl6pPr>
              <a:defRPr sz="142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6pPr>
            <a:lvl7pPr>
              <a:defRPr sz="142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7pPr>
            <a:lvl8pPr>
              <a:defRPr sz="142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8pPr>
            <a:lvl9pPr>
              <a:defRPr sz="142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B4D"/>
                </a:solidFill>
                <a:latin typeface="Arial"/>
                <a:ea typeface="Arial"/>
                <a:cs typeface="Arial"/>
              </a:rPr>
              <a:t>Hora y calendario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2C82A0-5CA7-40BD-B1FC-B4D8220B0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381125"/>
            <a:ext cx="5191125" cy="36195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B9D1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4EE052-FEED-48B8-9D4A-3C22D8BCA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762125"/>
            <a:ext cx="4238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22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División temporal 80 / 20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140395-8DA1-4925-9729-146F2E1A6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14625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330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5EEF"/>
                </a:solidFill>
                <a:latin typeface="Arial"/>
                <a:ea typeface="Arial"/>
                <a:cs typeface="Arial"/>
              </a:rPr>
              <a:t>393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D01092-2DB9-44D4-A17F-8C10EDAFA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19475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792"/>
          </a:bodyPr>
          <a:lstStyle xmlns:a="http://schemas.openxmlformats.org/drawingml/2006/main">
            <a:def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3657A"/>
                </a:solidFill>
                <a:latin typeface="Arial"/>
                <a:ea typeface="Arial"/>
                <a:cs typeface="Arial"/>
              </a:rPr>
              <a:t>eventos para entrenamiento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27ED80-8374-4279-99E3-5B63670D8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14625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3300" b="1">
                <a:solidFill>
                  <a:srgbClr val="F79009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F79009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F79009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F79009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F79009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F79009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F79009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F79009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F79009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F7900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7900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79009"/>
                </a:solidFill>
                <a:latin typeface="Arial"/>
                <a:ea typeface="Arial"/>
                <a:cs typeface="Arial"/>
              </a:rPr>
              <a:t>99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80138F-16F8-4181-B18F-21D21F5A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19475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3657A"/>
                </a:solidFill>
                <a:latin typeface="Arial"/>
                <a:ea typeface="Arial"/>
                <a:cs typeface="Arial"/>
              </a:rPr>
              <a:t>eventos para prueba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2DBC52-859A-447F-A083-3B3E1FA40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191000"/>
            <a:ext cx="3857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350">
                <a:solidFill>
                  <a:srgbClr val="53657A"/>
                </a:solidFill>
                <a:latin typeface="Arial"/>
                <a:ea typeface="Arial"/>
                <a:cs typeface="Arial"/>
              </a:defRPr>
            </a:defPPr>
            <a:lvl1pPr>
              <a:defRPr sz="135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1pPr>
            <a:lvl2pPr>
              <a:defRPr sz="135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2pPr>
            <a:lvl3pPr>
              <a:defRPr sz="135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3pPr>
            <a:lvl4pPr>
              <a:defRPr sz="135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4pPr>
            <a:lvl5pPr>
              <a:defRPr sz="135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5pPr>
            <a:lvl6pPr>
              <a:defRPr sz="135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6pPr>
            <a:lvl7pPr>
              <a:defRPr sz="135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7pPr>
            <a:lvl8pPr>
              <a:defRPr sz="135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8pPr>
            <a:lvl9pPr>
              <a:defRPr sz="135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3657A"/>
                </a:solidFill>
                <a:latin typeface="Arial"/>
                <a:ea typeface="Arial"/>
                <a:cs typeface="Arial"/>
              </a:rPr>
              <a:t>La hora de fin solo calcula la respuesta real. Nunca entra al modelo.</a:t>
            </a:r>
          </a:p>
        </p:txBody>
      </p:sp>
    </p:spTree>
    <p:extLst>
      <p:ext uri="{BB962C8B-B14F-4D97-AF65-F5344CB8AC3E}">
        <p14:creationId xmlns:p14="http://schemas.microsoft.com/office/powerpoint/2010/main" val="6255836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50E47C-7098-4F1A-897A-780D4B04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La duración tiene una cola extensa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81E79E-32A1-4596-904C-9FD983007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A8BA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03BA9C-7A02-4658-8C7E-724CA9FDFA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25d46786fd476f"/>
          <a:stretch xmlns:a="http://schemas.openxmlformats.org/drawingml/2006/main"/>
        </p:blipFill>
        <p:spPr>
          <a:xfrm xmlns:a="http://schemas.openxmlformats.org/drawingml/2006/main">
            <a:off x="523875" y="1579563"/>
            <a:ext cx="7000875" cy="38893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E4EF32-E636-4C9A-8EC3-2BFC5E812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192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330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5EEF"/>
                </a:solidFill>
                <a:latin typeface="Arial"/>
                <a:ea typeface="Arial"/>
                <a:cs typeface="Arial"/>
              </a:rPr>
              <a:t>49.2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FEC5A5-2348-4996-8666-8CEE62967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2410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3657A"/>
                </a:solidFill>
                <a:latin typeface="Arial"/>
                <a:ea typeface="Arial"/>
                <a:cs typeface="Arial"/>
              </a:rPr>
              <a:t>mediana en minutos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3328C3-6593-4F3B-A923-46A273948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432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3300" b="1">
                <a:solidFill>
                  <a:srgbClr val="F79009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F79009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F79009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F79009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F79009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F79009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F79009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F79009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F79009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F7900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7900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79009"/>
                </a:solidFill>
                <a:latin typeface="Arial"/>
                <a:ea typeface="Arial"/>
                <a:cs typeface="Arial"/>
              </a:rPr>
              <a:t>165.8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F174BC-EE83-4822-AF77-EFDE635B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4810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3657A"/>
                </a:solidFill>
                <a:latin typeface="Arial"/>
                <a:ea typeface="Arial"/>
                <a:cs typeface="Arial"/>
              </a:rPr>
              <a:t>media en minutos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BAA2D7-67C0-42B0-9DA5-6F9CB1B92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425">
                <a:solidFill>
                  <a:srgbClr val="53657A"/>
                </a:solidFill>
                <a:latin typeface="Arial"/>
                <a:ea typeface="Arial"/>
                <a:cs typeface="Arial"/>
              </a:defRPr>
            </a:defPPr>
            <a:lvl1pPr>
              <a:defRPr sz="1425">
                <a:solidFill>
                  <a:srgbClr val="53657A"/>
                </a:solidFill>
                <a:latin typeface="Arial"/>
                <a:ea typeface="Arial"/>
                <a:cs typeface="Arial"/>
              </a:defRPr>
            </a:lvl1pPr>
            <a:lvl2pPr>
              <a:defRPr sz="1425">
                <a:solidFill>
                  <a:srgbClr val="53657A"/>
                </a:solidFill>
                <a:latin typeface="Arial"/>
                <a:ea typeface="Arial"/>
                <a:cs typeface="Arial"/>
              </a:defRPr>
            </a:lvl2pPr>
            <a:lvl3pPr>
              <a:defRPr sz="1425">
                <a:solidFill>
                  <a:srgbClr val="53657A"/>
                </a:solidFill>
                <a:latin typeface="Arial"/>
                <a:ea typeface="Arial"/>
                <a:cs typeface="Arial"/>
              </a:defRPr>
            </a:lvl3pPr>
            <a:lvl4pPr>
              <a:defRPr sz="1425">
                <a:solidFill>
                  <a:srgbClr val="53657A"/>
                </a:solidFill>
                <a:latin typeface="Arial"/>
                <a:ea typeface="Arial"/>
                <a:cs typeface="Arial"/>
              </a:defRPr>
            </a:lvl4pPr>
            <a:lvl5pPr>
              <a:defRPr sz="1425">
                <a:solidFill>
                  <a:srgbClr val="53657A"/>
                </a:solidFill>
                <a:latin typeface="Arial"/>
                <a:ea typeface="Arial"/>
                <a:cs typeface="Arial"/>
              </a:defRPr>
            </a:lvl5pPr>
            <a:lvl6pPr>
              <a:defRPr sz="1425">
                <a:solidFill>
                  <a:srgbClr val="53657A"/>
                </a:solidFill>
                <a:latin typeface="Arial"/>
                <a:ea typeface="Arial"/>
                <a:cs typeface="Arial"/>
              </a:defRPr>
            </a:lvl6pPr>
            <a:lvl7pPr>
              <a:defRPr sz="1425">
                <a:solidFill>
                  <a:srgbClr val="53657A"/>
                </a:solidFill>
                <a:latin typeface="Arial"/>
                <a:ea typeface="Arial"/>
                <a:cs typeface="Arial"/>
              </a:defRPr>
            </a:lvl7pPr>
            <a:lvl8pPr>
              <a:defRPr sz="1425">
                <a:solidFill>
                  <a:srgbClr val="53657A"/>
                </a:solidFill>
                <a:latin typeface="Arial"/>
                <a:ea typeface="Arial"/>
                <a:cs typeface="Arial"/>
              </a:defRPr>
            </a:lvl8pPr>
            <a:lvl9pPr>
              <a:defRPr sz="1425">
                <a:solidFill>
                  <a:srgbClr val="53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53657A"/>
                </a:solidFill>
                <a:latin typeface="Arial"/>
                <a:ea typeface="Arial"/>
                <a:cs typeface="Arial"/>
              </a:rPr>
              <a:t>Los eventos largos elevan la media y dificultan la predicción puntual.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4E0EAC-69FE-4F14-A5B5-CAFCCE0A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>
            <a:defPPr>
              <a:defRPr sz="750">
                <a:solidFill>
                  <a:srgbClr val="77869A"/>
                </a:solidFill>
                <a:latin typeface="Arial"/>
                <a:ea typeface="Arial"/>
                <a:cs typeface="Arial"/>
              </a:defRPr>
            </a:defPPr>
            <a:lvl1pPr>
              <a:defRPr sz="750">
                <a:solidFill>
                  <a:srgbClr val="77869A"/>
                </a:solidFill>
                <a:latin typeface="Arial"/>
                <a:ea typeface="Arial"/>
                <a:cs typeface="Arial"/>
              </a:defRPr>
            </a:lvl1pPr>
            <a:lvl2pPr>
              <a:defRPr sz="750">
                <a:solidFill>
                  <a:srgbClr val="77869A"/>
                </a:solidFill>
                <a:latin typeface="Arial"/>
                <a:ea typeface="Arial"/>
                <a:cs typeface="Arial"/>
              </a:defRPr>
            </a:lvl2pPr>
            <a:lvl3pPr>
              <a:defRPr sz="750">
                <a:solidFill>
                  <a:srgbClr val="77869A"/>
                </a:solidFill>
                <a:latin typeface="Arial"/>
                <a:ea typeface="Arial"/>
                <a:cs typeface="Arial"/>
              </a:defRPr>
            </a:lvl3pPr>
            <a:lvl4pPr>
              <a:defRPr sz="750">
                <a:solidFill>
                  <a:srgbClr val="77869A"/>
                </a:solidFill>
                <a:latin typeface="Arial"/>
                <a:ea typeface="Arial"/>
                <a:cs typeface="Arial"/>
              </a:defRPr>
            </a:lvl4pPr>
            <a:lvl5pPr>
              <a:defRPr sz="750">
                <a:solidFill>
                  <a:srgbClr val="77869A"/>
                </a:solidFill>
                <a:latin typeface="Arial"/>
                <a:ea typeface="Arial"/>
                <a:cs typeface="Arial"/>
              </a:defRPr>
            </a:lvl5pPr>
            <a:lvl6pPr>
              <a:defRPr sz="750">
                <a:solidFill>
                  <a:srgbClr val="77869A"/>
                </a:solidFill>
                <a:latin typeface="Arial"/>
                <a:ea typeface="Arial"/>
                <a:cs typeface="Arial"/>
              </a:defRPr>
            </a:lvl6pPr>
            <a:lvl7pPr>
              <a:defRPr sz="750">
                <a:solidFill>
                  <a:srgbClr val="77869A"/>
                </a:solidFill>
                <a:latin typeface="Arial"/>
                <a:ea typeface="Arial"/>
                <a:cs typeface="Arial"/>
              </a:defRPr>
            </a:lvl7pPr>
            <a:lvl8pPr>
              <a:defRPr sz="750">
                <a:solidFill>
                  <a:srgbClr val="77869A"/>
                </a:solidFill>
                <a:latin typeface="Arial"/>
                <a:ea typeface="Arial"/>
                <a:cs typeface="Arial"/>
              </a:defRPr>
            </a:lvl8pPr>
            <a:lvl9pPr>
              <a:defRPr sz="750">
                <a:solidFill>
                  <a:srgbClr val="7786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750">
                <a:solidFill>
                  <a:srgbClr val="77869A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77869A"/>
                </a:solidFill>
                <a:latin typeface="Arial"/>
                <a:ea typeface="Arial"/>
                <a:cs typeface="Arial"/>
              </a:rPr>
              <a:t>Fuente: base procesada del proyecto, 492 eventos</a:t>
            </a:r>
          </a:p>
        </p:txBody>
      </p:sp>
    </p:spTree>
    <p:extLst>
      <p:ext uri="{BB962C8B-B14F-4D97-AF65-F5344CB8AC3E}">
        <p14:creationId xmlns:p14="http://schemas.microsoft.com/office/powerpoint/2010/main" val="8602014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28A320-C812-4191-BD58-01D74356F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Ridge obtuvo el menor error absoluto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6807E9-3F3C-466B-BE37-2441611FA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A8BA1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93AC64F7-EF62-44B9-9BBA-A12F1FCFCFAC}"/>
              </a:ext>
            </a:extLst>
          </p:cNvPr>
          <p:cNvGraphicFramePr/>
          <p:nvPr/>
        </p:nvGraphicFramePr>
        <p:xfrm>
          <a:off xmlns:a="http://schemas.openxmlformats.org/drawingml/2006/main" x="762000" y="1381125"/>
          <a:ext xmlns:a="http://schemas.openxmlformats.org/drawingml/2006/main" cx="723900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0e32d99fc1145d7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FD91E3-7627-4168-8D31-C3D24058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002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330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5EEF"/>
                </a:solidFill>
                <a:latin typeface="Arial"/>
                <a:ea typeface="Arial"/>
                <a:cs typeface="Arial"/>
              </a:rPr>
              <a:t>115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274C96-8687-46CB-960D-296E8C1CF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0510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3657A"/>
                </a:solidFill>
                <a:latin typeface="Arial"/>
                <a:ea typeface="Arial"/>
                <a:cs typeface="Arial"/>
              </a:rPr>
              <a:t>minutos de MAE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20A24D-1FC5-4142-AE58-B08A9B00F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19500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500">
                <a:solidFill>
                  <a:srgbClr val="53657A"/>
                </a:solidFill>
                <a:latin typeface="Arial"/>
                <a:ea typeface="Arial"/>
                <a:cs typeface="Arial"/>
              </a:defRPr>
            </a:defPPr>
            <a:lvl1pPr>
              <a:defRPr sz="15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1pPr>
            <a:lvl2pPr>
              <a:defRPr sz="15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2pPr>
            <a:lvl3pPr>
              <a:defRPr sz="15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3pPr>
            <a:lvl4pPr>
              <a:defRPr sz="15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4pPr>
            <a:lvl5pPr>
              <a:defRPr sz="15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5pPr>
            <a:lvl6pPr>
              <a:defRPr sz="15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6pPr>
            <a:lvl7pPr>
              <a:defRPr sz="15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7pPr>
            <a:lvl8pPr>
              <a:defRPr sz="15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8pPr>
            <a:lvl9pPr>
              <a:defRPr sz="15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3657A"/>
                </a:solidFill>
                <a:latin typeface="Arial"/>
                <a:ea typeface="Arial"/>
                <a:cs typeface="Arial"/>
              </a:rPr>
              <a:t>La mediana histórica registró 176.8 minutos de MAE.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A08DCD-E131-4B2C-B3D8-350AF0647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762500"/>
            <a:ext cx="266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Ridge reduce el error medio frente al baseline.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9F7FC1-10AB-4952-A501-D47ED587A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>
            <a:defPPr>
              <a:defRPr sz="750">
                <a:solidFill>
                  <a:srgbClr val="77869A"/>
                </a:solidFill>
                <a:latin typeface="Arial"/>
                <a:ea typeface="Arial"/>
                <a:cs typeface="Arial"/>
              </a:defRPr>
            </a:defPPr>
            <a:lvl1pPr>
              <a:defRPr sz="750">
                <a:solidFill>
                  <a:srgbClr val="77869A"/>
                </a:solidFill>
                <a:latin typeface="Arial"/>
                <a:ea typeface="Arial"/>
                <a:cs typeface="Arial"/>
              </a:defRPr>
            </a:lvl1pPr>
            <a:lvl2pPr>
              <a:defRPr sz="750">
                <a:solidFill>
                  <a:srgbClr val="77869A"/>
                </a:solidFill>
                <a:latin typeface="Arial"/>
                <a:ea typeface="Arial"/>
                <a:cs typeface="Arial"/>
              </a:defRPr>
            </a:lvl2pPr>
            <a:lvl3pPr>
              <a:defRPr sz="750">
                <a:solidFill>
                  <a:srgbClr val="77869A"/>
                </a:solidFill>
                <a:latin typeface="Arial"/>
                <a:ea typeface="Arial"/>
                <a:cs typeface="Arial"/>
              </a:defRPr>
            </a:lvl3pPr>
            <a:lvl4pPr>
              <a:defRPr sz="750">
                <a:solidFill>
                  <a:srgbClr val="77869A"/>
                </a:solidFill>
                <a:latin typeface="Arial"/>
                <a:ea typeface="Arial"/>
                <a:cs typeface="Arial"/>
              </a:defRPr>
            </a:lvl4pPr>
            <a:lvl5pPr>
              <a:defRPr sz="750">
                <a:solidFill>
                  <a:srgbClr val="77869A"/>
                </a:solidFill>
                <a:latin typeface="Arial"/>
                <a:ea typeface="Arial"/>
                <a:cs typeface="Arial"/>
              </a:defRPr>
            </a:lvl5pPr>
            <a:lvl6pPr>
              <a:defRPr sz="750">
                <a:solidFill>
                  <a:srgbClr val="77869A"/>
                </a:solidFill>
                <a:latin typeface="Arial"/>
                <a:ea typeface="Arial"/>
                <a:cs typeface="Arial"/>
              </a:defRPr>
            </a:lvl6pPr>
            <a:lvl7pPr>
              <a:defRPr sz="750">
                <a:solidFill>
                  <a:srgbClr val="77869A"/>
                </a:solidFill>
                <a:latin typeface="Arial"/>
                <a:ea typeface="Arial"/>
                <a:cs typeface="Arial"/>
              </a:defRPr>
            </a:lvl7pPr>
            <a:lvl8pPr>
              <a:defRPr sz="750">
                <a:solidFill>
                  <a:srgbClr val="77869A"/>
                </a:solidFill>
                <a:latin typeface="Arial"/>
                <a:ea typeface="Arial"/>
                <a:cs typeface="Arial"/>
              </a:defRPr>
            </a:lvl8pPr>
            <a:lvl9pPr>
              <a:defRPr sz="750">
                <a:solidFill>
                  <a:srgbClr val="7786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750">
                <a:solidFill>
                  <a:srgbClr val="77869A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77869A"/>
                </a:solidFill>
                <a:latin typeface="Arial"/>
                <a:ea typeface="Arial"/>
                <a:cs typeface="Arial"/>
              </a:rPr>
              <a:t>Prueba temporal: 99 eventos</a:t>
            </a:r>
          </a:p>
        </p:txBody>
      </p:sp>
    </p:spTree>
    <p:extLst>
      <p:ext uri="{BB962C8B-B14F-4D97-AF65-F5344CB8AC3E}">
        <p14:creationId xmlns:p14="http://schemas.microsoft.com/office/powerpoint/2010/main" val="9198014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B349F4-B795-4950-B008-566D3BF2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El modelo captura parte de la variación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A6C38C-CB66-456D-BECD-630FA187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A8BA1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7168F5-DA82-4D93-9DD3-51CC700970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5748724e784ad7"/>
          <a:stretch xmlns:a="http://schemas.openxmlformats.org/drawingml/2006/main"/>
        </p:blipFill>
        <p:spPr>
          <a:xfrm xmlns:a="http://schemas.openxmlformats.org/drawingml/2006/main">
            <a:off x="1381125" y="1123950"/>
            <a:ext cx="4953000" cy="4953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AF3878-F2B9-4A6D-8CE0-00685FF34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62125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285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55EEF"/>
                </a:solidFill>
                <a:latin typeface="Arial"/>
                <a:ea typeface="Arial"/>
                <a:cs typeface="Arial"/>
              </a:rPr>
              <a:t>R² 0.262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2439C3-2D12-4F20-8100-ED6B5D211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62250"/>
            <a:ext cx="3143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650">
                <a:solidFill>
                  <a:srgbClr val="53657A"/>
                </a:solidFill>
                <a:latin typeface="Arial"/>
                <a:ea typeface="Arial"/>
                <a:cs typeface="Arial"/>
              </a:defRPr>
            </a:defPPr>
            <a:lvl1pPr>
              <a:defRPr sz="165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1pPr>
            <a:lvl2pPr>
              <a:defRPr sz="165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2pPr>
            <a:lvl3pPr>
              <a:defRPr sz="165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3pPr>
            <a:lvl4pPr>
              <a:defRPr sz="165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4pPr>
            <a:lvl5pPr>
              <a:defRPr sz="165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5pPr>
            <a:lvl6pPr>
              <a:defRPr sz="165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6pPr>
            <a:lvl7pPr>
              <a:defRPr sz="165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7pPr>
            <a:lvl8pPr>
              <a:defRPr sz="165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8pPr>
            <a:lvl9pPr>
              <a:defRPr sz="165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3657A"/>
                </a:solidFill>
                <a:latin typeface="Arial"/>
                <a:ea typeface="Arial"/>
                <a:cs typeface="Arial"/>
              </a:rPr>
              <a:t>El ajuste mejora el baseline, pero conserva errores grandes en eventos extremos.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DE1701-B7D7-44A1-9656-88BC7B32F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720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27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Uso recomendado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1C3931-62AF-47AB-911E-EB5F5D9B0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000625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500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  <a:lvl1pPr>
              <a:defRPr sz="150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1pPr>
            <a:lvl2pPr>
              <a:defRPr sz="150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2pPr>
            <a:lvl3pPr>
              <a:defRPr sz="150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3pPr>
            <a:lvl4pPr>
              <a:defRPr sz="150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4pPr>
            <a:lvl5pPr>
              <a:defRPr sz="150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5pPr>
            <a:lvl6pPr>
              <a:defRPr sz="150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6pPr>
            <a:lvl7pPr>
              <a:defRPr sz="150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7pPr>
            <a:lvl8pPr>
              <a:defRPr sz="150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8pPr>
            <a:lvl9pPr>
              <a:defRPr sz="150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B4D"/>
                </a:solidFill>
                <a:latin typeface="Arial"/>
                <a:ea typeface="Arial"/>
                <a:cs typeface="Arial"/>
              </a:rPr>
              <a:t>Referencia analítica y demostración académica</a:t>
            </a:r>
          </a:p>
        </p:txBody>
      </p:sp>
    </p:spTree>
    <p:extLst>
      <p:ext uri="{BB962C8B-B14F-4D97-AF65-F5344CB8AC3E}">
        <p14:creationId xmlns:p14="http://schemas.microsoft.com/office/powerpoint/2010/main" val="3762248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EB4C79-8C36-48EA-917E-89DCE0F22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Severidad basada en percentiles de duración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477C84-07D2-4147-90B6-002950A5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A8BA1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E293D8-89F9-47F6-A1CE-B0CA705973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8a5d6394574cce"/>
          <a:stretch xmlns:a="http://schemas.openxmlformats.org/drawingml/2006/main"/>
        </p:blipFill>
        <p:spPr>
          <a:xfrm xmlns:a="http://schemas.openxmlformats.org/drawingml/2006/main">
            <a:off x="666750" y="1397000"/>
            <a:ext cx="5334000" cy="4445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1A2956-45B7-4123-901C-75FA9246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571625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330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5EEF"/>
                </a:solidFill>
                <a:latin typeface="Arial"/>
                <a:ea typeface="Arial"/>
                <a:cs typeface="Arial"/>
              </a:rPr>
              <a:t>72.7 %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E37CEB-46C0-4523-8C73-6ED3339DC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276475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3657A"/>
                </a:solidFill>
                <a:latin typeface="Arial"/>
                <a:ea typeface="Arial"/>
                <a:cs typeface="Arial"/>
              </a:rPr>
              <a:t>exactitud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A65789-6003-481F-8316-7333265EE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71625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3300" b="1">
                <a:solidFill>
                  <a:srgbClr val="F79009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F79009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F79009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F79009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F79009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F79009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F79009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F79009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F79009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F7900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7900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79009"/>
                </a:solidFill>
                <a:latin typeface="Arial"/>
                <a:ea typeface="Arial"/>
                <a:cs typeface="Arial"/>
              </a:rPr>
              <a:t>0.551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D294C1-33A9-475A-A14E-6512C4D5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76475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3657A"/>
                </a:solidFill>
                <a:latin typeface="Arial"/>
                <a:ea typeface="Arial"/>
                <a:cs typeface="Arial"/>
              </a:rPr>
              <a:t>F1 macro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810D8A-A402-4D92-BD11-9F36EAE5D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7052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5EE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1D67B3-D8E2-4AE6-A724-255EF6B77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619500"/>
            <a:ext cx="3771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425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  <a:lvl1pPr>
              <a:defRPr sz="142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1pPr>
            <a:lvl2pPr>
              <a:defRPr sz="142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2pPr>
            <a:lvl3pPr>
              <a:defRPr sz="142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3pPr>
            <a:lvl4pPr>
              <a:defRPr sz="142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4pPr>
            <a:lvl5pPr>
              <a:defRPr sz="142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5pPr>
            <a:lvl6pPr>
              <a:defRPr sz="142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6pPr>
            <a:lvl7pPr>
              <a:defRPr sz="142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7pPr>
            <a:lvl8pPr>
              <a:defRPr sz="142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8pPr>
            <a:lvl9pPr>
              <a:defRPr sz="142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B4D"/>
                </a:solidFill>
                <a:latin typeface="Arial"/>
                <a:ea typeface="Arial"/>
                <a:cs typeface="Arial"/>
              </a:rPr>
              <a:t>Baja hasta 52 minutos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E9C276-3E50-406E-B382-771406ACD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2291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5EE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4FDCA1-1770-4078-A10F-9961F270B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143375"/>
            <a:ext cx="3771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425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  <a:lvl1pPr>
              <a:defRPr sz="142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1pPr>
            <a:lvl2pPr>
              <a:defRPr sz="142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2pPr>
            <a:lvl3pPr>
              <a:defRPr sz="142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3pPr>
            <a:lvl4pPr>
              <a:defRPr sz="142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4pPr>
            <a:lvl5pPr>
              <a:defRPr sz="142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5pPr>
            <a:lvl6pPr>
              <a:defRPr sz="142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6pPr>
            <a:lvl7pPr>
              <a:defRPr sz="142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7pPr>
            <a:lvl8pPr>
              <a:defRPr sz="142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8pPr>
            <a:lvl9pPr>
              <a:defRPr sz="142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B4D"/>
                </a:solidFill>
                <a:latin typeface="Arial"/>
                <a:ea typeface="Arial"/>
                <a:cs typeface="Arial"/>
              </a:rPr>
              <a:t>Media hasta 373.7 minutos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7BF12B-DFA1-42A2-AED0-083FE46C5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7529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5EE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B306DB-97DE-410E-A118-5E3A1685D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667250"/>
            <a:ext cx="3771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425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  <a:lvl1pPr>
              <a:defRPr sz="142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1pPr>
            <a:lvl2pPr>
              <a:defRPr sz="142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2pPr>
            <a:lvl3pPr>
              <a:defRPr sz="142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3pPr>
            <a:lvl4pPr>
              <a:defRPr sz="142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4pPr>
            <a:lvl5pPr>
              <a:defRPr sz="142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5pPr>
            <a:lvl6pPr>
              <a:defRPr sz="142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6pPr>
            <a:lvl7pPr>
              <a:defRPr sz="142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7pPr>
            <a:lvl8pPr>
              <a:defRPr sz="142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8pPr>
            <a:lvl9pPr>
              <a:defRPr sz="142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B4D"/>
                </a:solidFill>
                <a:latin typeface="Arial"/>
                <a:ea typeface="Arial"/>
                <a:cs typeface="Arial"/>
              </a:rPr>
              <a:t>Alta por encima del percentil 80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654A62-E7AC-4F53-A688-E0966F1A0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>
            <a:defPPr>
              <a:defRPr sz="750">
                <a:solidFill>
                  <a:srgbClr val="77869A"/>
                </a:solidFill>
                <a:latin typeface="Arial"/>
                <a:ea typeface="Arial"/>
                <a:cs typeface="Arial"/>
              </a:defRPr>
            </a:defPPr>
            <a:lvl1pPr>
              <a:defRPr sz="750">
                <a:solidFill>
                  <a:srgbClr val="77869A"/>
                </a:solidFill>
                <a:latin typeface="Arial"/>
                <a:ea typeface="Arial"/>
                <a:cs typeface="Arial"/>
              </a:defRPr>
            </a:lvl1pPr>
            <a:lvl2pPr>
              <a:defRPr sz="750">
                <a:solidFill>
                  <a:srgbClr val="77869A"/>
                </a:solidFill>
                <a:latin typeface="Arial"/>
                <a:ea typeface="Arial"/>
                <a:cs typeface="Arial"/>
              </a:defRPr>
            </a:lvl2pPr>
            <a:lvl3pPr>
              <a:defRPr sz="750">
                <a:solidFill>
                  <a:srgbClr val="77869A"/>
                </a:solidFill>
                <a:latin typeface="Arial"/>
                <a:ea typeface="Arial"/>
                <a:cs typeface="Arial"/>
              </a:defRPr>
            </a:lvl3pPr>
            <a:lvl4pPr>
              <a:defRPr sz="750">
                <a:solidFill>
                  <a:srgbClr val="77869A"/>
                </a:solidFill>
                <a:latin typeface="Arial"/>
                <a:ea typeface="Arial"/>
                <a:cs typeface="Arial"/>
              </a:defRPr>
            </a:lvl4pPr>
            <a:lvl5pPr>
              <a:defRPr sz="750">
                <a:solidFill>
                  <a:srgbClr val="77869A"/>
                </a:solidFill>
                <a:latin typeface="Arial"/>
                <a:ea typeface="Arial"/>
                <a:cs typeface="Arial"/>
              </a:defRPr>
            </a:lvl5pPr>
            <a:lvl6pPr>
              <a:defRPr sz="750">
                <a:solidFill>
                  <a:srgbClr val="77869A"/>
                </a:solidFill>
                <a:latin typeface="Arial"/>
                <a:ea typeface="Arial"/>
                <a:cs typeface="Arial"/>
              </a:defRPr>
            </a:lvl6pPr>
            <a:lvl7pPr>
              <a:defRPr sz="750">
                <a:solidFill>
                  <a:srgbClr val="77869A"/>
                </a:solidFill>
                <a:latin typeface="Arial"/>
                <a:ea typeface="Arial"/>
                <a:cs typeface="Arial"/>
              </a:defRPr>
            </a:lvl7pPr>
            <a:lvl8pPr>
              <a:defRPr sz="750">
                <a:solidFill>
                  <a:srgbClr val="77869A"/>
                </a:solidFill>
                <a:latin typeface="Arial"/>
                <a:ea typeface="Arial"/>
                <a:cs typeface="Arial"/>
              </a:defRPr>
            </a:lvl8pPr>
            <a:lvl9pPr>
              <a:defRPr sz="750">
                <a:solidFill>
                  <a:srgbClr val="7786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750">
                <a:solidFill>
                  <a:srgbClr val="77869A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77869A"/>
                </a:solidFill>
                <a:latin typeface="Arial"/>
                <a:ea typeface="Arial"/>
                <a:cs typeface="Arial"/>
              </a:rPr>
              <a:t>Clasificación académica. No corresponde a un criterio regulatorio.</a:t>
            </a:r>
          </a:p>
        </p:txBody>
      </p:sp>
    </p:spTree>
    <p:extLst>
      <p:ext uri="{BB962C8B-B14F-4D97-AF65-F5344CB8AC3E}">
        <p14:creationId xmlns:p14="http://schemas.microsoft.com/office/powerpoint/2010/main" val="196024183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4B6F20-D903-47A6-8737-501FFDBF8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Variables con mayor influencia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2FA482-29F9-4283-8E98-F7231EC20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A8BA1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57017B-E9AE-40E1-9ED5-B8F7A20FF0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407cd2b3034cbe"/>
          <a:stretch xmlns:a="http://schemas.openxmlformats.org/drawingml/2006/main"/>
        </p:blipFill>
        <p:spPr>
          <a:xfrm xmlns:a="http://schemas.openxmlformats.org/drawingml/2006/main">
            <a:off x="457200" y="1127125"/>
            <a:ext cx="7334250" cy="4889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BA0BF5-CB7F-4C39-AD83-D31924C4F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6687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Lectura correcta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7A67CE-8643-4325-8259-61C5F1FB0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33625"/>
            <a:ext cx="323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650">
                <a:solidFill>
                  <a:srgbClr val="53657A"/>
                </a:solidFill>
                <a:latin typeface="Arial"/>
                <a:ea typeface="Arial"/>
                <a:cs typeface="Arial"/>
              </a:defRPr>
            </a:defPPr>
            <a:lvl1pPr>
              <a:defRPr sz="165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1pPr>
            <a:lvl2pPr>
              <a:defRPr sz="165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2pPr>
            <a:lvl3pPr>
              <a:defRPr sz="165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3pPr>
            <a:lvl4pPr>
              <a:defRPr sz="165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4pPr>
            <a:lvl5pPr>
              <a:defRPr sz="165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5pPr>
            <a:lvl6pPr>
              <a:defRPr sz="165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6pPr>
            <a:lvl7pPr>
              <a:defRPr sz="165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7pPr>
            <a:lvl8pPr>
              <a:defRPr sz="165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8pPr>
            <a:lvl9pPr>
              <a:defRPr sz="165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3657A"/>
                </a:solidFill>
                <a:latin typeface="Arial"/>
                <a:ea typeface="Arial"/>
                <a:cs typeface="Arial"/>
              </a:rPr>
              <a:t>Las importancias describen el ajuste del modelo. No prueban causalidad.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E86E66-0869-47D1-8ECC-83954D999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905250"/>
            <a:ext cx="323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500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  <a:lvl1pPr>
              <a:defRPr sz="150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1pPr>
            <a:lvl2pPr>
              <a:defRPr sz="150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2pPr>
            <a:lvl3pPr>
              <a:defRPr sz="150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3pPr>
            <a:lvl4pPr>
              <a:defRPr sz="150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4pPr>
            <a:lvl5pPr>
              <a:defRPr sz="150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5pPr>
            <a:lvl6pPr>
              <a:defRPr sz="150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6pPr>
            <a:lvl7pPr>
              <a:defRPr sz="150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7pPr>
            <a:lvl8pPr>
              <a:defRPr sz="150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8pPr>
            <a:lvl9pPr>
              <a:defRPr sz="150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B4D"/>
                </a:solidFill>
                <a:latin typeface="Arial"/>
                <a:ea typeface="Arial"/>
                <a:cs typeface="Arial"/>
              </a:rPr>
              <a:t>La muestra pequeña y las categorías poco frecuentes limitan la estabilidad.</a:t>
            </a:r>
          </a:p>
        </p:txBody>
      </p:sp>
    </p:spTree>
    <p:extLst>
      <p:ext uri="{BB962C8B-B14F-4D97-AF65-F5344CB8AC3E}">
        <p14:creationId xmlns:p14="http://schemas.microsoft.com/office/powerpoint/2010/main" val="96294111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223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773430-4BA3-4AF1-A687-69B40D3E0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Arquitectura de despliegue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0E08E9-8574-44AB-AC8B-F88B95ED6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C8DE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B9C8DE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B9C8DE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B9C8DE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B9C8DE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B9C8DE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B9C8DE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B9C8DE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B9C8DE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B9C8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C8D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9C8DE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A38073-97EB-4170-921A-7683B97B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21907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203653"/>
          </a:solidFill>
          <a:ln xmlns:a="http://schemas.openxmlformats.org/drawingml/2006/main" w="9525">
            <a:solidFill>
              <a:srgbClr val="46617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F9D10A-3A46-41BA-AA66-11C466A22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4765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Datos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9ED4F4-72D0-4A88-A909-14C740C12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095625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275">
                <a:solidFill>
                  <a:srgbClr val="C8D5E5"/>
                </a:solidFill>
                <a:latin typeface="Arial"/>
                <a:ea typeface="Arial"/>
                <a:cs typeface="Arial"/>
              </a:defRPr>
            </a:defPPr>
            <a:lvl1pPr>
              <a:defRPr sz="1275">
                <a:solidFill>
                  <a:srgbClr val="C8D5E5"/>
                </a:solidFill>
                <a:latin typeface="Arial"/>
                <a:ea typeface="Arial"/>
                <a:cs typeface="Arial"/>
              </a:defRPr>
            </a:lvl1pPr>
            <a:lvl2pPr>
              <a:defRPr sz="1275">
                <a:solidFill>
                  <a:srgbClr val="C8D5E5"/>
                </a:solidFill>
                <a:latin typeface="Arial"/>
                <a:ea typeface="Arial"/>
                <a:cs typeface="Arial"/>
              </a:defRPr>
            </a:lvl2pPr>
            <a:lvl3pPr>
              <a:defRPr sz="1275">
                <a:solidFill>
                  <a:srgbClr val="C8D5E5"/>
                </a:solidFill>
                <a:latin typeface="Arial"/>
                <a:ea typeface="Arial"/>
                <a:cs typeface="Arial"/>
              </a:defRPr>
            </a:lvl3pPr>
            <a:lvl4pPr>
              <a:defRPr sz="1275">
                <a:solidFill>
                  <a:srgbClr val="C8D5E5"/>
                </a:solidFill>
                <a:latin typeface="Arial"/>
                <a:ea typeface="Arial"/>
                <a:cs typeface="Arial"/>
              </a:defRPr>
            </a:lvl4pPr>
            <a:lvl5pPr>
              <a:defRPr sz="1275">
                <a:solidFill>
                  <a:srgbClr val="C8D5E5"/>
                </a:solidFill>
                <a:latin typeface="Arial"/>
                <a:ea typeface="Arial"/>
                <a:cs typeface="Arial"/>
              </a:defRPr>
            </a:lvl5pPr>
            <a:lvl6pPr>
              <a:defRPr sz="1275">
                <a:solidFill>
                  <a:srgbClr val="C8D5E5"/>
                </a:solidFill>
                <a:latin typeface="Arial"/>
                <a:ea typeface="Arial"/>
                <a:cs typeface="Arial"/>
              </a:defRPr>
            </a:lvl6pPr>
            <a:lvl7pPr>
              <a:defRPr sz="1275">
                <a:solidFill>
                  <a:srgbClr val="C8D5E5"/>
                </a:solidFill>
                <a:latin typeface="Arial"/>
                <a:ea typeface="Arial"/>
                <a:cs typeface="Arial"/>
              </a:defRPr>
            </a:lvl7pPr>
            <a:lvl8pPr>
              <a:defRPr sz="1275">
                <a:solidFill>
                  <a:srgbClr val="C8D5E5"/>
                </a:solidFill>
                <a:latin typeface="Arial"/>
                <a:ea typeface="Arial"/>
                <a:cs typeface="Arial"/>
              </a:defRPr>
            </a:lvl8pPr>
            <a:lvl9pPr>
              <a:defRPr sz="1275">
                <a:solidFill>
                  <a:srgbClr val="C8D5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>
                <a:solidFill>
                  <a:srgbClr val="C8D5E5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8D5E5"/>
                </a:solidFill>
                <a:latin typeface="Arial"/>
                <a:ea typeface="Arial"/>
                <a:cs typeface="Arial"/>
              </a:rPr>
              <a:t>JSON y CSV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59509C-F024-4BE9-810A-40D850F26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000375"/>
            <a:ext cx="4191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8CA0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FDACB5-817C-4CD1-A8BA-E36AB1DDA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21907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203653"/>
          </a:solidFill>
          <a:ln xmlns:a="http://schemas.openxmlformats.org/drawingml/2006/main" w="9525">
            <a:solidFill>
              <a:srgbClr val="46617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B39478-A3A7-4507-B6CF-1D01D684A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4765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2BC049-F015-481D-99B2-CEC957E31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095625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275">
                <a:solidFill>
                  <a:srgbClr val="C8D5E5"/>
                </a:solidFill>
                <a:latin typeface="Arial"/>
                <a:ea typeface="Arial"/>
                <a:cs typeface="Arial"/>
              </a:defRPr>
            </a:defPPr>
            <a:lvl1pPr>
              <a:defRPr sz="1275">
                <a:solidFill>
                  <a:srgbClr val="C8D5E5"/>
                </a:solidFill>
                <a:latin typeface="Arial"/>
                <a:ea typeface="Arial"/>
                <a:cs typeface="Arial"/>
              </a:defRPr>
            </a:lvl1pPr>
            <a:lvl2pPr>
              <a:defRPr sz="1275">
                <a:solidFill>
                  <a:srgbClr val="C8D5E5"/>
                </a:solidFill>
                <a:latin typeface="Arial"/>
                <a:ea typeface="Arial"/>
                <a:cs typeface="Arial"/>
              </a:defRPr>
            </a:lvl2pPr>
            <a:lvl3pPr>
              <a:defRPr sz="1275">
                <a:solidFill>
                  <a:srgbClr val="C8D5E5"/>
                </a:solidFill>
                <a:latin typeface="Arial"/>
                <a:ea typeface="Arial"/>
                <a:cs typeface="Arial"/>
              </a:defRPr>
            </a:lvl3pPr>
            <a:lvl4pPr>
              <a:defRPr sz="1275">
                <a:solidFill>
                  <a:srgbClr val="C8D5E5"/>
                </a:solidFill>
                <a:latin typeface="Arial"/>
                <a:ea typeface="Arial"/>
                <a:cs typeface="Arial"/>
              </a:defRPr>
            </a:lvl4pPr>
            <a:lvl5pPr>
              <a:defRPr sz="1275">
                <a:solidFill>
                  <a:srgbClr val="C8D5E5"/>
                </a:solidFill>
                <a:latin typeface="Arial"/>
                <a:ea typeface="Arial"/>
                <a:cs typeface="Arial"/>
              </a:defRPr>
            </a:lvl5pPr>
            <a:lvl6pPr>
              <a:defRPr sz="1275">
                <a:solidFill>
                  <a:srgbClr val="C8D5E5"/>
                </a:solidFill>
                <a:latin typeface="Arial"/>
                <a:ea typeface="Arial"/>
                <a:cs typeface="Arial"/>
              </a:defRPr>
            </a:lvl6pPr>
            <a:lvl7pPr>
              <a:defRPr sz="1275">
                <a:solidFill>
                  <a:srgbClr val="C8D5E5"/>
                </a:solidFill>
                <a:latin typeface="Arial"/>
                <a:ea typeface="Arial"/>
                <a:cs typeface="Arial"/>
              </a:defRPr>
            </a:lvl7pPr>
            <a:lvl8pPr>
              <a:defRPr sz="1275">
                <a:solidFill>
                  <a:srgbClr val="C8D5E5"/>
                </a:solidFill>
                <a:latin typeface="Arial"/>
                <a:ea typeface="Arial"/>
                <a:cs typeface="Arial"/>
              </a:defRPr>
            </a:lvl8pPr>
            <a:lvl9pPr>
              <a:defRPr sz="1275">
                <a:solidFill>
                  <a:srgbClr val="C8D5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>
                <a:solidFill>
                  <a:srgbClr val="C8D5E5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8D5E5"/>
                </a:solidFill>
                <a:latin typeface="Arial"/>
                <a:ea typeface="Arial"/>
                <a:cs typeface="Arial"/>
              </a:rPr>
              <a:t>PKL y métricas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BA194A-1B39-49F1-A3AA-3A558026E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000375"/>
            <a:ext cx="4191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8CA0B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31FA24-F4A5-4F0A-A4B5-8FA2A77C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90750"/>
            <a:ext cx="21907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1E4D8F"/>
          </a:solidFill>
          <a:ln xmlns:a="http://schemas.openxmlformats.org/drawingml/2006/main" w="9525">
            <a:solidFill>
              <a:srgbClr val="46617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F2EA00-DB0E-43BE-8552-FF2510E0E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4765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FastAPI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35F96C-7E47-423C-9ED3-3DB0E23A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095625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275">
                <a:solidFill>
                  <a:srgbClr val="C8D5E5"/>
                </a:solidFill>
                <a:latin typeface="Arial"/>
                <a:ea typeface="Arial"/>
                <a:cs typeface="Arial"/>
              </a:defRPr>
            </a:defPPr>
            <a:lvl1pPr>
              <a:defRPr sz="1275">
                <a:solidFill>
                  <a:srgbClr val="C8D5E5"/>
                </a:solidFill>
                <a:latin typeface="Arial"/>
                <a:ea typeface="Arial"/>
                <a:cs typeface="Arial"/>
              </a:defRPr>
            </a:lvl1pPr>
            <a:lvl2pPr>
              <a:defRPr sz="1275">
                <a:solidFill>
                  <a:srgbClr val="C8D5E5"/>
                </a:solidFill>
                <a:latin typeface="Arial"/>
                <a:ea typeface="Arial"/>
                <a:cs typeface="Arial"/>
              </a:defRPr>
            </a:lvl2pPr>
            <a:lvl3pPr>
              <a:defRPr sz="1275">
                <a:solidFill>
                  <a:srgbClr val="C8D5E5"/>
                </a:solidFill>
                <a:latin typeface="Arial"/>
                <a:ea typeface="Arial"/>
                <a:cs typeface="Arial"/>
              </a:defRPr>
            </a:lvl3pPr>
            <a:lvl4pPr>
              <a:defRPr sz="1275">
                <a:solidFill>
                  <a:srgbClr val="C8D5E5"/>
                </a:solidFill>
                <a:latin typeface="Arial"/>
                <a:ea typeface="Arial"/>
                <a:cs typeface="Arial"/>
              </a:defRPr>
            </a:lvl4pPr>
            <a:lvl5pPr>
              <a:defRPr sz="1275">
                <a:solidFill>
                  <a:srgbClr val="C8D5E5"/>
                </a:solidFill>
                <a:latin typeface="Arial"/>
                <a:ea typeface="Arial"/>
                <a:cs typeface="Arial"/>
              </a:defRPr>
            </a:lvl5pPr>
            <a:lvl6pPr>
              <a:defRPr sz="1275">
                <a:solidFill>
                  <a:srgbClr val="C8D5E5"/>
                </a:solidFill>
                <a:latin typeface="Arial"/>
                <a:ea typeface="Arial"/>
                <a:cs typeface="Arial"/>
              </a:defRPr>
            </a:lvl6pPr>
            <a:lvl7pPr>
              <a:defRPr sz="1275">
                <a:solidFill>
                  <a:srgbClr val="C8D5E5"/>
                </a:solidFill>
                <a:latin typeface="Arial"/>
                <a:ea typeface="Arial"/>
                <a:cs typeface="Arial"/>
              </a:defRPr>
            </a:lvl7pPr>
            <a:lvl8pPr>
              <a:defRPr sz="1275">
                <a:solidFill>
                  <a:srgbClr val="C8D5E5"/>
                </a:solidFill>
                <a:latin typeface="Arial"/>
                <a:ea typeface="Arial"/>
                <a:cs typeface="Arial"/>
              </a:defRPr>
            </a:lvl8pPr>
            <a:lvl9pPr>
              <a:defRPr sz="1275">
                <a:solidFill>
                  <a:srgbClr val="C8D5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>
                <a:solidFill>
                  <a:srgbClr val="C8D5E5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8D5E5"/>
                </a:solidFill>
                <a:latin typeface="Arial"/>
                <a:ea typeface="Arial"/>
                <a:cs typeface="Arial"/>
              </a:rPr>
              <a:t>Puerto 8000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FBCB9D-48F3-4ABD-BC2D-5E0792E0C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00375"/>
            <a:ext cx="4191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8CA0B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573AF3-3114-4DF4-B315-D96E2F2D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190750"/>
            <a:ext cx="21907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203653"/>
          </a:solidFill>
          <a:ln xmlns:a="http://schemas.openxmlformats.org/drawingml/2006/main" w="9525">
            <a:solidFill>
              <a:srgbClr val="46617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26FEF1-6183-499A-801F-0A221C99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4765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Streamlit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E44D18-C332-40E5-8C3C-F0FEE544A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095625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275">
                <a:solidFill>
                  <a:srgbClr val="C8D5E5"/>
                </a:solidFill>
                <a:latin typeface="Arial"/>
                <a:ea typeface="Arial"/>
                <a:cs typeface="Arial"/>
              </a:defRPr>
            </a:defPPr>
            <a:lvl1pPr>
              <a:defRPr sz="1275">
                <a:solidFill>
                  <a:srgbClr val="C8D5E5"/>
                </a:solidFill>
                <a:latin typeface="Arial"/>
                <a:ea typeface="Arial"/>
                <a:cs typeface="Arial"/>
              </a:defRPr>
            </a:lvl1pPr>
            <a:lvl2pPr>
              <a:defRPr sz="1275">
                <a:solidFill>
                  <a:srgbClr val="C8D5E5"/>
                </a:solidFill>
                <a:latin typeface="Arial"/>
                <a:ea typeface="Arial"/>
                <a:cs typeface="Arial"/>
              </a:defRPr>
            </a:lvl2pPr>
            <a:lvl3pPr>
              <a:defRPr sz="1275">
                <a:solidFill>
                  <a:srgbClr val="C8D5E5"/>
                </a:solidFill>
                <a:latin typeface="Arial"/>
                <a:ea typeface="Arial"/>
                <a:cs typeface="Arial"/>
              </a:defRPr>
            </a:lvl3pPr>
            <a:lvl4pPr>
              <a:defRPr sz="1275">
                <a:solidFill>
                  <a:srgbClr val="C8D5E5"/>
                </a:solidFill>
                <a:latin typeface="Arial"/>
                <a:ea typeface="Arial"/>
                <a:cs typeface="Arial"/>
              </a:defRPr>
            </a:lvl4pPr>
            <a:lvl5pPr>
              <a:defRPr sz="1275">
                <a:solidFill>
                  <a:srgbClr val="C8D5E5"/>
                </a:solidFill>
                <a:latin typeface="Arial"/>
                <a:ea typeface="Arial"/>
                <a:cs typeface="Arial"/>
              </a:defRPr>
            </a:lvl5pPr>
            <a:lvl6pPr>
              <a:defRPr sz="1275">
                <a:solidFill>
                  <a:srgbClr val="C8D5E5"/>
                </a:solidFill>
                <a:latin typeface="Arial"/>
                <a:ea typeface="Arial"/>
                <a:cs typeface="Arial"/>
              </a:defRPr>
            </a:lvl6pPr>
            <a:lvl7pPr>
              <a:defRPr sz="1275">
                <a:solidFill>
                  <a:srgbClr val="C8D5E5"/>
                </a:solidFill>
                <a:latin typeface="Arial"/>
                <a:ea typeface="Arial"/>
                <a:cs typeface="Arial"/>
              </a:defRPr>
            </a:lvl7pPr>
            <a:lvl8pPr>
              <a:defRPr sz="1275">
                <a:solidFill>
                  <a:srgbClr val="C8D5E5"/>
                </a:solidFill>
                <a:latin typeface="Arial"/>
                <a:ea typeface="Arial"/>
                <a:cs typeface="Arial"/>
              </a:defRPr>
            </a:lvl8pPr>
            <a:lvl9pPr>
              <a:defRPr sz="1275">
                <a:solidFill>
                  <a:srgbClr val="C8D5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>
                <a:solidFill>
                  <a:srgbClr val="C8D5E5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8D5E5"/>
                </a:solidFill>
                <a:latin typeface="Arial"/>
                <a:ea typeface="Arial"/>
                <a:cs typeface="Arial"/>
              </a:rPr>
              <a:t>Puerto 8501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41C671-56A2-462F-8065-E993F0637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19625"/>
            <a:ext cx="876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650">
                <a:solidFill>
                  <a:srgbClr val="D7E2F0"/>
                </a:solidFill>
                <a:latin typeface="Arial"/>
                <a:ea typeface="Arial"/>
                <a:cs typeface="Arial"/>
              </a:defRPr>
            </a:defPPr>
            <a:lvl1pPr>
              <a:defRPr sz="1650">
                <a:solidFill>
                  <a:srgbClr val="D7E2F0"/>
                </a:solidFill>
                <a:latin typeface="Arial"/>
                <a:ea typeface="Arial"/>
                <a:cs typeface="Arial"/>
              </a:defRPr>
            </a:lvl1pPr>
            <a:lvl2pPr>
              <a:defRPr sz="1650">
                <a:solidFill>
                  <a:srgbClr val="D7E2F0"/>
                </a:solidFill>
                <a:latin typeface="Arial"/>
                <a:ea typeface="Arial"/>
                <a:cs typeface="Arial"/>
              </a:defRPr>
            </a:lvl2pPr>
            <a:lvl3pPr>
              <a:defRPr sz="1650">
                <a:solidFill>
                  <a:srgbClr val="D7E2F0"/>
                </a:solidFill>
                <a:latin typeface="Arial"/>
                <a:ea typeface="Arial"/>
                <a:cs typeface="Arial"/>
              </a:defRPr>
            </a:lvl3pPr>
            <a:lvl4pPr>
              <a:defRPr sz="1650">
                <a:solidFill>
                  <a:srgbClr val="D7E2F0"/>
                </a:solidFill>
                <a:latin typeface="Arial"/>
                <a:ea typeface="Arial"/>
                <a:cs typeface="Arial"/>
              </a:defRPr>
            </a:lvl4pPr>
            <a:lvl5pPr>
              <a:defRPr sz="1650">
                <a:solidFill>
                  <a:srgbClr val="D7E2F0"/>
                </a:solidFill>
                <a:latin typeface="Arial"/>
                <a:ea typeface="Arial"/>
                <a:cs typeface="Arial"/>
              </a:defRPr>
            </a:lvl5pPr>
            <a:lvl6pPr>
              <a:defRPr sz="1650">
                <a:solidFill>
                  <a:srgbClr val="D7E2F0"/>
                </a:solidFill>
                <a:latin typeface="Arial"/>
                <a:ea typeface="Arial"/>
                <a:cs typeface="Arial"/>
              </a:defRPr>
            </a:lvl6pPr>
            <a:lvl7pPr>
              <a:defRPr sz="1650">
                <a:solidFill>
                  <a:srgbClr val="D7E2F0"/>
                </a:solidFill>
                <a:latin typeface="Arial"/>
                <a:ea typeface="Arial"/>
                <a:cs typeface="Arial"/>
              </a:defRPr>
            </a:lvl7pPr>
            <a:lvl8pPr>
              <a:defRPr sz="1650">
                <a:solidFill>
                  <a:srgbClr val="D7E2F0"/>
                </a:solidFill>
                <a:latin typeface="Arial"/>
                <a:ea typeface="Arial"/>
                <a:cs typeface="Arial"/>
              </a:defRPr>
            </a:lvl8pPr>
            <a:lvl9pPr>
              <a:defRPr sz="1650">
                <a:solidFill>
                  <a:srgbClr val="D7E2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>
                <a:solidFill>
                  <a:srgbClr val="D7E2F0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D7E2F0"/>
                </a:solidFill>
                <a:latin typeface="Arial"/>
                <a:ea typeface="Arial"/>
                <a:cs typeface="Arial"/>
              </a:rPr>
              <a:t>Docker Compose levanta los dos servicios. La fase 3 actualiza datos, reentrena y registra la versión.</a:t>
            </a:r>
          </a:p>
        </p:txBody>
      </p:sp>
    </p:spTree>
    <p:extLst>
      <p:ext uri="{BB962C8B-B14F-4D97-AF65-F5344CB8AC3E}">
        <p14:creationId xmlns:p14="http://schemas.microsoft.com/office/powerpoint/2010/main" val="127365812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1C9F0D-562E-40ED-A782-5B45380BE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Conclusiones y demostración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50F717-2A89-408F-BCEB-7D376B875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A8BA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A8BA1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900CB8-F681-449E-B47F-1FEC10E9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50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55EEF"/>
                </a:solidFill>
                <a:latin typeface="Arial"/>
                <a:ea typeface="Arial"/>
                <a:cs typeface="Arial"/>
              </a:rPr>
              <a:t>Resultado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F7BDBE-4EEE-410A-8343-6FB5632B0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383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5EE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685E02-5C28-4BF7-8B48-CD36E44B2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952625"/>
            <a:ext cx="4248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500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  <a:lvl1pPr>
              <a:defRPr sz="150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1pPr>
            <a:lvl2pPr>
              <a:defRPr sz="150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2pPr>
            <a:lvl3pPr>
              <a:defRPr sz="150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3pPr>
            <a:lvl4pPr>
              <a:defRPr sz="150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4pPr>
            <a:lvl5pPr>
              <a:defRPr sz="150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5pPr>
            <a:lvl6pPr>
              <a:defRPr sz="150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6pPr>
            <a:lvl7pPr>
              <a:defRPr sz="150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7pPr>
            <a:lvl8pPr>
              <a:defRPr sz="150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8pPr>
            <a:lvl9pPr>
              <a:defRPr sz="150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B4D"/>
                </a:solidFill>
                <a:latin typeface="Arial"/>
                <a:ea typeface="Arial"/>
                <a:cs typeface="Arial"/>
              </a:rPr>
              <a:t>Pipeline completo y reproducible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19363B-C1E2-4C66-9B94-677E1B53D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098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5EE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46FE06-2957-468E-9D54-97DF0C296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524125"/>
            <a:ext cx="4248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500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  <a:lvl1pPr>
              <a:defRPr sz="150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1pPr>
            <a:lvl2pPr>
              <a:defRPr sz="150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2pPr>
            <a:lvl3pPr>
              <a:defRPr sz="150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3pPr>
            <a:lvl4pPr>
              <a:defRPr sz="150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4pPr>
            <a:lvl5pPr>
              <a:defRPr sz="150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5pPr>
            <a:lvl6pPr>
              <a:defRPr sz="150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6pPr>
            <a:lvl7pPr>
              <a:defRPr sz="150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7pPr>
            <a:lvl8pPr>
              <a:defRPr sz="150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8pPr>
            <a:lvl9pPr>
              <a:defRPr sz="150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B4D"/>
                </a:solidFill>
                <a:latin typeface="Arial"/>
                <a:ea typeface="Arial"/>
                <a:cs typeface="Arial"/>
              </a:rPr>
              <a:t>Mejora frente a los baselines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857DE1-210D-47EF-A870-9A5B33C8B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813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5EE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E4FB50-0C9A-4E5A-8029-20D27F18C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095625"/>
            <a:ext cx="4248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500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  <a:lvl1pPr>
              <a:defRPr sz="150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1pPr>
            <a:lvl2pPr>
              <a:defRPr sz="150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2pPr>
            <a:lvl3pPr>
              <a:defRPr sz="150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3pPr>
            <a:lvl4pPr>
              <a:defRPr sz="150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4pPr>
            <a:lvl5pPr>
              <a:defRPr sz="150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5pPr>
            <a:lvl6pPr>
              <a:defRPr sz="150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6pPr>
            <a:lvl7pPr>
              <a:defRPr sz="150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7pPr>
            <a:lvl8pPr>
              <a:defRPr sz="150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8pPr>
            <a:lvl9pPr>
              <a:defRPr sz="1500">
                <a:solidFill>
                  <a:srgbClr val="172B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B4D"/>
                </a:solidFill>
                <a:latin typeface="Arial"/>
                <a:ea typeface="Arial"/>
                <a:cs typeface="Arial"/>
              </a:rPr>
              <a:t>API, dashboard y reentrenamiento funcionales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9AEDC2-5BD4-410E-A96D-BEE962D8F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862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1500" b="1">
                <a:solidFill>
                  <a:srgbClr val="F79009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F79009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F79009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F79009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F79009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F79009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F79009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F79009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F79009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F7900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7900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9009"/>
                </a:solidFill>
                <a:latin typeface="Arial"/>
                <a:ea typeface="Arial"/>
                <a:cs typeface="Arial"/>
              </a:rPr>
              <a:t>Límite principal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A0E3A7-74B3-4D4D-AB7E-E96B6B66B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62500"/>
            <a:ext cx="447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650">
                <a:solidFill>
                  <a:srgbClr val="53657A"/>
                </a:solidFill>
                <a:latin typeface="Arial"/>
                <a:ea typeface="Arial"/>
                <a:cs typeface="Arial"/>
              </a:defRPr>
            </a:defPPr>
            <a:lvl1pPr>
              <a:defRPr sz="165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1pPr>
            <a:lvl2pPr>
              <a:defRPr sz="165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2pPr>
            <a:lvl3pPr>
              <a:defRPr sz="165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3pPr>
            <a:lvl4pPr>
              <a:defRPr sz="165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4pPr>
            <a:lvl5pPr>
              <a:defRPr sz="165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5pPr>
            <a:lvl6pPr>
              <a:defRPr sz="165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6pPr>
            <a:lvl7pPr>
              <a:defRPr sz="165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7pPr>
            <a:lvl8pPr>
              <a:defRPr sz="165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8pPr>
            <a:lvl9pPr>
              <a:defRPr sz="1650">
                <a:solidFill>
                  <a:srgbClr val="5365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>
                <a:solidFill>
                  <a:srgbClr val="53657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3657A"/>
                </a:solidFill>
                <a:latin typeface="Arial"/>
                <a:ea typeface="Arial"/>
                <a:cs typeface="Arial"/>
              </a:rPr>
              <a:t>La muestra pública es pequeña y no incluye variables operativas críticas.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AA82DF-B06F-408F-AD5D-87F361BEF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81125"/>
            <a:ext cx="4953000" cy="4238625"/>
          </a:xfrm>
          <a:prstGeom xmlns:a="http://schemas.openxmlformats.org/drawingml/2006/main" prst="roundRect">
            <a:avLst>
              <a:gd name="adj" fmla="val 35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C416F1-401E-4F6D-B699-A0FB4E412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145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21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Demostración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48BD07-49F4-4AFC-A675-DB10C26FD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657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5EE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6F1C2F-0387-40E9-B5D4-B3E1BA7E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571750"/>
            <a:ext cx="3486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575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2B4D"/>
                </a:solidFill>
                <a:latin typeface="Arial"/>
                <a:ea typeface="Arial"/>
                <a:cs typeface="Arial"/>
              </a:rPr>
              <a:t>Abrir el dashboard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AF5E98-A2C2-455F-9A80-9FB0B76F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2670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5EE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2EFFB7-A644-40D0-9A21-6072BE8C9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181350"/>
            <a:ext cx="3486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575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2B4D"/>
                </a:solidFill>
                <a:latin typeface="Arial"/>
                <a:ea typeface="Arial"/>
                <a:cs typeface="Arial"/>
              </a:rPr>
              <a:t>Completar un evento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487619-CAE1-4396-9FA6-5280121F1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8766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5EE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B2DFD8-48D5-4D27-B87F-26925DC9E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790950"/>
            <a:ext cx="3486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575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2B4D"/>
                </a:solidFill>
                <a:latin typeface="Arial"/>
                <a:ea typeface="Arial"/>
                <a:cs typeface="Arial"/>
              </a:rPr>
              <a:t>Ejecutar la predicción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235EB3-7212-4B5C-B5DB-71323013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4862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5EE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A48BE6-4395-40CB-BA0F-F479B6A75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400550"/>
            <a:ext cx="3486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575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172B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2B4D"/>
                </a:solidFill>
                <a:latin typeface="Arial"/>
                <a:ea typeface="Arial"/>
                <a:cs typeface="Arial"/>
              </a:rPr>
              <a:t>Mostrar métricas y API</a:t>
            </a:r>
          </a:p>
        </p:txBody>
      </p:sp>
    </p:spTree>
    <p:extLst>
      <p:ext uri="{BB962C8B-B14F-4D97-AF65-F5344CB8AC3E}">
        <p14:creationId xmlns:p14="http://schemas.microsoft.com/office/powerpoint/2010/main" val="6182232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2026-10-29T19:29:47.8940000Z</dcterms:created>
  <dcterms:modified xsi:type="dcterms:W3CDTF">2026-10-29T19:29:47.8940000Z</dcterms:modified>
</coreProperties>
</file>